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6BC25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68000" y="-1905000"/>
            <a:ext cx="8572500" cy="8572500"/>
          </a:xfrm>
          <a:prstGeom prst="rect">
            <a:avLst/>
          </a:prstGeom>
          <a:solidFill>
            <a:srgbClr val="86BC25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987040"/>
            <a:ext cx="80448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· DELOITTE × LUISS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3665220"/>
            <a:ext cx="804481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0" b="1" spc="-4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pPr algn="l" indent="0" marL="0">
              <a:lnSpc>
                <a:spcPct val="90000"/>
              </a:lnSpc>
              <a:buNone/>
            </a:pPr>
            <a:r>
              <a:rPr lang="en-US" sz="12000" b="1" spc="-48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1143000" y="5341620"/>
            <a:ext cx="8044815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Product Search for Health &amp; Personal Care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143000" y="6568440"/>
            <a:ext cx="8044815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review-aware search system on Amazon Reviews 2023, with quality-driven re-ranking, BART summarization, and domain entity extraction.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9204960"/>
            <a:ext cx="352810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Mean-Squared-Terrors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8230850" y="0"/>
            <a:ext cx="57150" cy="10287000"/>
          </a:xfrm>
          <a:prstGeom prst="rect">
            <a:avLst/>
          </a:prstGeom>
          <a:solidFill>
            <a:srgbClr val="86BC2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Shape 1"/>
          <p:cNvSpPr/>
          <p:nvPr/>
        </p:nvSpPr>
        <p:spPr>
          <a:xfrm>
            <a:off x="9136380" y="0"/>
            <a:ext cx="9525" cy="9791700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571500"/>
            <a:ext cx="744832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040130"/>
            <a:ext cx="7448322" cy="1735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 doesn't understand what shoppers actually mean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143000" y="3004185"/>
            <a:ext cx="744832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USER TYPES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3568065"/>
            <a:ext cx="7231380" cy="1127760"/>
          </a:xfrm>
          <a:prstGeom prst="roundRect">
            <a:avLst>
              <a:gd name="adj" fmla="val 844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4688205"/>
            <a:ext cx="7231380" cy="9525"/>
          </a:xfrm>
          <a:prstGeom prst="rect">
            <a:avLst/>
          </a:prstGeom>
          <a:solidFill>
            <a:srgbClr val="E0E3DB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3568065"/>
            <a:ext cx="7231380" cy="9525"/>
          </a:xfrm>
          <a:prstGeom prst="rect">
            <a:avLst/>
          </a:prstGeom>
          <a:solidFill>
            <a:srgbClr val="E0E3DB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3568065"/>
            <a:ext cx="38100" cy="112776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1" name="Shape 9"/>
          <p:cNvSpPr/>
          <p:nvPr/>
        </p:nvSpPr>
        <p:spPr>
          <a:xfrm>
            <a:off x="8366760" y="3568065"/>
            <a:ext cx="9525" cy="1127760"/>
          </a:xfrm>
          <a:prstGeom prst="rect">
            <a:avLst/>
          </a:prstGeom>
          <a:solidFill>
            <a:srgbClr val="E0E3DB"/>
          </a:solidFill>
          <a:ln/>
        </p:spPr>
      </p:sp>
      <p:sp>
        <p:nvSpPr>
          <p:cNvPr id="12" name="Text 10"/>
          <p:cNvSpPr/>
          <p:nvPr/>
        </p:nvSpPr>
        <p:spPr>
          <a:xfrm>
            <a:off x="1447800" y="3785235"/>
            <a:ext cx="686920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2332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intent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"something to help me sleep at night"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43000" y="4962525"/>
            <a:ext cx="7231380" cy="1127760"/>
          </a:xfrm>
          <a:prstGeom prst="roundRect">
            <a:avLst>
              <a:gd name="adj" fmla="val 8446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6082665"/>
            <a:ext cx="7231380" cy="9525"/>
          </a:xfrm>
          <a:prstGeom prst="rect">
            <a:avLst/>
          </a:prstGeom>
          <a:solidFill>
            <a:srgbClr val="E0E3DB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4962525"/>
            <a:ext cx="7231380" cy="9525"/>
          </a:xfrm>
          <a:prstGeom prst="rect">
            <a:avLst/>
          </a:prstGeom>
          <a:solidFill>
            <a:srgbClr val="E0E3DB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3000" y="4962525"/>
            <a:ext cx="38100" cy="112776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7" name="Shape 15"/>
          <p:cNvSpPr/>
          <p:nvPr/>
        </p:nvSpPr>
        <p:spPr>
          <a:xfrm>
            <a:off x="8366760" y="4962525"/>
            <a:ext cx="9525" cy="1127760"/>
          </a:xfrm>
          <a:prstGeom prst="rect">
            <a:avLst/>
          </a:prstGeom>
          <a:solidFill>
            <a:srgbClr val="E0E3DB"/>
          </a:solidFill>
          <a:ln/>
        </p:spPr>
      </p:sp>
      <p:sp>
        <p:nvSpPr>
          <p:cNvPr id="18" name="Text 16"/>
          <p:cNvSpPr/>
          <p:nvPr/>
        </p:nvSpPr>
        <p:spPr>
          <a:xfrm>
            <a:off x="1447800" y="5179695"/>
            <a:ext cx="686920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2332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Implicit exclusions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"face cream without parabens"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143000" y="6356985"/>
            <a:ext cx="7231380" cy="1127760"/>
          </a:xfrm>
          <a:prstGeom prst="roundRect">
            <a:avLst>
              <a:gd name="adj" fmla="val 8446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7477125"/>
            <a:ext cx="7231380" cy="9525"/>
          </a:xfrm>
          <a:prstGeom prst="rect">
            <a:avLst/>
          </a:prstGeom>
          <a:solidFill>
            <a:srgbClr val="E0E3DB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6356985"/>
            <a:ext cx="7231380" cy="9525"/>
          </a:xfrm>
          <a:prstGeom prst="rect">
            <a:avLst/>
          </a:prstGeom>
          <a:solidFill>
            <a:srgbClr val="E0E3DB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" y="6356985"/>
            <a:ext cx="38100" cy="112776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3" name="Shape 21"/>
          <p:cNvSpPr/>
          <p:nvPr/>
        </p:nvSpPr>
        <p:spPr>
          <a:xfrm>
            <a:off x="8366760" y="6356985"/>
            <a:ext cx="9525" cy="1127760"/>
          </a:xfrm>
          <a:prstGeom prst="rect">
            <a:avLst/>
          </a:prstGeom>
          <a:solidFill>
            <a:srgbClr val="E0E3DB"/>
          </a:solidFill>
          <a:ln/>
        </p:spPr>
      </p:sp>
      <p:sp>
        <p:nvSpPr>
          <p:cNvPr id="24" name="Text 22"/>
          <p:cNvSpPr/>
          <p:nvPr/>
        </p:nvSpPr>
        <p:spPr>
          <a:xfrm>
            <a:off x="1447800" y="6574155"/>
            <a:ext cx="686920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2332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Price intent &amp; trust signals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"professional but affordable shampoo"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144000" y="0"/>
            <a:ext cx="9144000" cy="9791700"/>
          </a:xfrm>
          <a:prstGeom prst="rect">
            <a:avLst/>
          </a:prstGeom>
          <a:solidFill>
            <a:srgbClr val="F5F6F2"/>
          </a:solidFill>
          <a:ln/>
        </p:spPr>
      </p:sp>
      <p:sp>
        <p:nvSpPr>
          <p:cNvPr id="26" name="Text 24"/>
          <p:cNvSpPr/>
          <p:nvPr/>
        </p:nvSpPr>
        <p:spPr>
          <a:xfrm>
            <a:off x="9906000" y="1981200"/>
            <a:ext cx="78486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TRADITIONAL SEARCH DOES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906000" y="2640330"/>
            <a:ext cx="95250" cy="9525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10153650" y="2545080"/>
            <a:ext cx="4636233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Lexical match: looks for exact words only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906000" y="3253740"/>
            <a:ext cx="95250" cy="9525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10153650" y="3158490"/>
            <a:ext cx="4416309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understand synonyms or intent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906000" y="3867150"/>
            <a:ext cx="95250" cy="9525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10153650" y="3771900"/>
            <a:ext cx="356669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tell "with" from "without"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9906000" y="4480560"/>
            <a:ext cx="95250" cy="9525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10153650" y="4385310"/>
            <a:ext cx="4679074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by text relevance or raw popularity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906000" y="5093970"/>
            <a:ext cx="95250" cy="9525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10153650" y="4998720"/>
            <a:ext cx="4735813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Ignores the customer voice inside reviews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8" name="Text 36"/>
          <p:cNvSpPr/>
          <p:nvPr/>
        </p:nvSpPr>
        <p:spPr>
          <a:xfrm>
            <a:off x="609600" y="9852660"/>
            <a:ext cx="68714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DiscoverAI </a:t>
            </a:r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Mean-Squared-Terrors · Deloitte × LUISS 2026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7051179" y="9871710"/>
            <a:ext cx="70342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17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533400"/>
            <a:ext cx="1659978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19200" y="1002030"/>
            <a:ext cx="16599789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review-aware system that understands intent and trust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219200" y="1720215"/>
            <a:ext cx="137350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embedding model, two sources of truth: the product text for what it claims to be, the reviews for how it actually performs, fused into a semantic index with quality-driven re-ranking.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219200" y="2748915"/>
            <a:ext cx="2559050" cy="6585585"/>
          </a:xfrm>
          <a:prstGeom prst="roundRect">
            <a:avLst>
              <a:gd name="adj" fmla="val 5955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55420" y="3061335"/>
            <a:ext cx="419100" cy="41910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06133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55420" y="3632835"/>
            <a:ext cx="216281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455420" y="4040505"/>
            <a:ext cx="304800" cy="19050"/>
          </a:xfrm>
          <a:prstGeom prst="roundRect">
            <a:avLst>
              <a:gd name="adj" fmla="val 50000"/>
            </a:avLst>
          </a:prstGeom>
          <a:solidFill>
            <a:srgbClr val="86BC25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55420" y="4173855"/>
            <a:ext cx="216281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sampling, minimum thresholds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55420" y="4928235"/>
            <a:ext cx="208661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1455420" y="5031105"/>
            <a:ext cx="216281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10 reviews per product · drop reviews &lt;25 tokens · 5-star bias: 62% → 46%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55420" y="6745605"/>
            <a:ext cx="208661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15" name="Text 13"/>
          <p:cNvSpPr/>
          <p:nvPr/>
        </p:nvSpPr>
        <p:spPr>
          <a:xfrm>
            <a:off x="1455420" y="6848475"/>
            <a:ext cx="2162810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Cap: {5:5, 4:3, 3:2, 2:3, 1:3} per product, prioritising most helpful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930650" y="2748915"/>
            <a:ext cx="2559050" cy="6585585"/>
          </a:xfrm>
          <a:prstGeom prst="roundRect">
            <a:avLst>
              <a:gd name="adj" fmla="val 5955"/>
            </a:avLst>
          </a:prstGeom>
          <a:solidFill>
            <a:srgbClr val="F5F6F2"/>
          </a:solidFill>
          <a:ln w="7620">
            <a:solidFill>
              <a:srgbClr val="E0E3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6870" y="3061335"/>
            <a:ext cx="419100" cy="41910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8" name="Text 16"/>
          <p:cNvSpPr/>
          <p:nvPr/>
        </p:nvSpPr>
        <p:spPr>
          <a:xfrm>
            <a:off x="4128770" y="306133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66870" y="3632835"/>
            <a:ext cx="216281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166870" y="4040505"/>
            <a:ext cx="304800" cy="19050"/>
          </a:xfrm>
          <a:prstGeom prst="roundRect">
            <a:avLst>
              <a:gd name="adj" fmla="val 50000"/>
            </a:avLst>
          </a:prstGeom>
          <a:solidFill>
            <a:srgbClr val="86BC25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166870" y="4173855"/>
            <a:ext cx="216281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Two-tower MPNet, dynamic alpha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166870" y="4928235"/>
            <a:ext cx="208661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23" name="Text 21"/>
          <p:cNvSpPr/>
          <p:nvPr/>
        </p:nvSpPr>
        <p:spPr>
          <a:xfrm>
            <a:off x="4166870" y="5031105"/>
            <a:ext cx="2162810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all-mpnet-base-v2 · 768 dim · 1B+ pairs · alpha ∈ [0.35, 0.70]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166870" y="6425565"/>
            <a:ext cx="208661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25" name="Text 23"/>
          <p:cNvSpPr/>
          <p:nvPr/>
        </p:nvSpPr>
        <p:spPr>
          <a:xfrm>
            <a:off x="4166870" y="6528435"/>
            <a:ext cx="2162810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emb + weighted review emb (70% helpful + 30% rating dev)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642100" y="2748915"/>
            <a:ext cx="2559050" cy="6585585"/>
          </a:xfrm>
          <a:prstGeom prst="roundRect">
            <a:avLst>
              <a:gd name="adj" fmla="val 5955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78320" y="3061335"/>
            <a:ext cx="419100" cy="41910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28" name="Text 26"/>
          <p:cNvSpPr/>
          <p:nvPr/>
        </p:nvSpPr>
        <p:spPr>
          <a:xfrm>
            <a:off x="6840220" y="306133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78320" y="3632835"/>
            <a:ext cx="216281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6878320" y="4040505"/>
            <a:ext cx="304800" cy="19050"/>
          </a:xfrm>
          <a:prstGeom prst="roundRect">
            <a:avLst>
              <a:gd name="adj" fmla="val 50000"/>
            </a:avLst>
          </a:prstGeom>
          <a:solidFill>
            <a:srgbClr val="86BC25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878320" y="4173855"/>
            <a:ext cx="216281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IndexFlatIP, exact search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878320" y="4928235"/>
            <a:ext cx="208661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33" name="Text 31"/>
          <p:cNvSpPr/>
          <p:nvPr/>
        </p:nvSpPr>
        <p:spPr>
          <a:xfrm>
            <a:off x="6878320" y="5031105"/>
            <a:ext cx="216281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7,593 products · 768-dim normalised vectors · exact inner-product search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878320" y="6745605"/>
            <a:ext cx="208661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35" name="Text 33"/>
          <p:cNvSpPr/>
          <p:nvPr/>
        </p:nvSpPr>
        <p:spPr>
          <a:xfrm>
            <a:off x="6878320" y="6848475"/>
            <a:ext cx="2162810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approximate index — exact is instant at this scale, recall = 1.0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353550" y="2748915"/>
            <a:ext cx="2559050" cy="6585585"/>
          </a:xfrm>
          <a:prstGeom prst="roundRect">
            <a:avLst>
              <a:gd name="adj" fmla="val 5955"/>
            </a:avLst>
          </a:prstGeom>
          <a:solidFill>
            <a:srgbClr val="F5F6F2"/>
          </a:solidFill>
          <a:ln w="7620">
            <a:solidFill>
              <a:srgbClr val="E0E3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89770" y="3061335"/>
            <a:ext cx="419100" cy="41910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38" name="Text 36"/>
          <p:cNvSpPr/>
          <p:nvPr/>
        </p:nvSpPr>
        <p:spPr>
          <a:xfrm>
            <a:off x="9551670" y="306133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589770" y="3632835"/>
            <a:ext cx="216281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9589770" y="4040505"/>
            <a:ext cx="304800" cy="19050"/>
          </a:xfrm>
          <a:prstGeom prst="roundRect">
            <a:avLst>
              <a:gd name="adj" fmla="val 50000"/>
            </a:avLst>
          </a:prstGeom>
          <a:solidFill>
            <a:srgbClr val="86BC25">
              <a:alpha val="4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589770" y="4173855"/>
            <a:ext cx="216281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Parsing, synonyms, re-ranking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589770" y="4928235"/>
            <a:ext cx="208661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43" name="Text 41"/>
          <p:cNvSpPr/>
          <p:nvPr/>
        </p:nvSpPr>
        <p:spPr>
          <a:xfrm>
            <a:off x="9589770" y="5031105"/>
            <a:ext cx="216281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versions: baseline → negation → synonyms+price → hybrid BM25+semantic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589770" y="6745605"/>
            <a:ext cx="208661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45" name="Text 43"/>
          <p:cNvSpPr/>
          <p:nvPr/>
        </p:nvSpPr>
        <p:spPr>
          <a:xfrm>
            <a:off x="9589770" y="6848475"/>
            <a:ext cx="216281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β_quality: 0.12 → 0.20 when mean sim &lt; 0.65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2065000" y="2748915"/>
            <a:ext cx="2559050" cy="6585585"/>
          </a:xfrm>
          <a:prstGeom prst="roundRect">
            <a:avLst>
              <a:gd name="adj" fmla="val 5955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301220" y="3061335"/>
            <a:ext cx="419100" cy="41910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48" name="Text 46"/>
          <p:cNvSpPr/>
          <p:nvPr/>
        </p:nvSpPr>
        <p:spPr>
          <a:xfrm>
            <a:off x="12263120" y="306133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2301220" y="3632835"/>
            <a:ext cx="216281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12301220" y="4040505"/>
            <a:ext cx="304800" cy="19050"/>
          </a:xfrm>
          <a:prstGeom prst="roundRect">
            <a:avLst>
              <a:gd name="adj" fmla="val 50000"/>
            </a:avLst>
          </a:prstGeom>
          <a:solidFill>
            <a:srgbClr val="86BC25">
              <a:alpha val="4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2301220" y="4173855"/>
            <a:ext cx="216281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 summary + domain entities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2301220" y="4928235"/>
            <a:ext cx="208661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53" name="Text 51"/>
          <p:cNvSpPr/>
          <p:nvPr/>
        </p:nvSpPr>
        <p:spPr>
          <a:xfrm>
            <a:off x="12301220" y="5031105"/>
            <a:ext cx="2162810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BART-Large-CNN · positive/negative split · extractive fallback &lt;5 reviews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2301220" y="6425565"/>
            <a:ext cx="208661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55" name="Text 53"/>
          <p:cNvSpPr/>
          <p:nvPr/>
        </p:nvSpPr>
        <p:spPr>
          <a:xfrm>
            <a:off x="12301220" y="6528435"/>
            <a:ext cx="2162810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spaCy NER + regex: ingredients, certifications, use-case targets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4776450" y="2748915"/>
            <a:ext cx="2559050" cy="6585585"/>
          </a:xfrm>
          <a:prstGeom prst="roundRect">
            <a:avLst>
              <a:gd name="adj" fmla="val 5955"/>
            </a:avLst>
          </a:prstGeom>
          <a:solidFill>
            <a:srgbClr val="F5F6F2"/>
          </a:solidFill>
          <a:ln w="7620">
            <a:solidFill>
              <a:srgbClr val="E0E3D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5012670" y="3061335"/>
            <a:ext cx="419100" cy="41910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58" name="Text 56"/>
          <p:cNvSpPr/>
          <p:nvPr/>
        </p:nvSpPr>
        <p:spPr>
          <a:xfrm>
            <a:off x="14974570" y="306133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5012670" y="3632835"/>
            <a:ext cx="216281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2100" dirty="0"/>
          </a:p>
        </p:txBody>
      </p:sp>
      <p:sp>
        <p:nvSpPr>
          <p:cNvPr id="60" name="Shape 58"/>
          <p:cNvSpPr/>
          <p:nvPr/>
        </p:nvSpPr>
        <p:spPr>
          <a:xfrm>
            <a:off x="15012670" y="4040505"/>
            <a:ext cx="304800" cy="19050"/>
          </a:xfrm>
          <a:prstGeom prst="roundRect">
            <a:avLst>
              <a:gd name="adj" fmla="val 50000"/>
            </a:avLst>
          </a:prstGeom>
          <a:solidFill>
            <a:srgbClr val="86BC25">
              <a:alpha val="4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5012670" y="4173855"/>
            <a:ext cx="216281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Gradio UI, 3 tabs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5012670" y="4608195"/>
            <a:ext cx="208661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63" name="Text 61"/>
          <p:cNvSpPr/>
          <p:nvPr/>
        </p:nvSpPr>
        <p:spPr>
          <a:xfrm>
            <a:off x="15012670" y="4711065"/>
            <a:ext cx="216281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· Similar Products · System Info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012670" y="5785485"/>
            <a:ext cx="208661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65" name="Text 63"/>
          <p:cNvSpPr/>
          <p:nvPr/>
        </p:nvSpPr>
        <p:spPr>
          <a:xfrm>
            <a:off x="15012670" y="5888355"/>
            <a:ext cx="2162810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 integrated · hybrid_v4 · NDCG@5 = 0.526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67" name="Text 65"/>
          <p:cNvSpPr/>
          <p:nvPr/>
        </p:nvSpPr>
        <p:spPr>
          <a:xfrm>
            <a:off x="609600" y="9852660"/>
            <a:ext cx="68714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DiscoverAI </a:t>
            </a:r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Mean-Squared-Terrors · Deloitte × LUISS 2026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7051179" y="9871710"/>
            <a:ext cx="70342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17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66750"/>
            <a:ext cx="1659978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AT A GLANCE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19200" y="1135380"/>
            <a:ext cx="16599789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Reviews 2023: Health &amp; Personal Care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219200" y="1853565"/>
            <a:ext cx="16599789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coverage, token distribution and reviews per product (balanced set)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19200" y="2661285"/>
            <a:ext cx="3857625" cy="2125980"/>
          </a:xfrm>
          <a:prstGeom prst="roundRect">
            <a:avLst>
              <a:gd name="adj" fmla="val 7168"/>
            </a:avLst>
          </a:prstGeom>
          <a:solidFill>
            <a:srgbClr val="1A2332"/>
          </a:solidFill>
          <a:ln w="7620">
            <a:solidFill>
              <a:srgbClr val="E5E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9720" y="3049905"/>
            <a:ext cx="325128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7,647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569720" y="4078605"/>
            <a:ext cx="325128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305425" y="2661285"/>
            <a:ext cx="3857625" cy="2125980"/>
          </a:xfrm>
          <a:prstGeom prst="roundRect">
            <a:avLst>
              <a:gd name="adj" fmla="val 7168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55945" y="3049905"/>
            <a:ext cx="325128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318k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655945" y="4078605"/>
            <a:ext cx="325128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reviews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391650" y="2661285"/>
            <a:ext cx="3857625" cy="2125980"/>
          </a:xfrm>
          <a:prstGeom prst="roundRect">
            <a:avLst>
              <a:gd name="adj" fmla="val 7168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42170" y="3049905"/>
            <a:ext cx="325128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57k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9742170" y="4078605"/>
            <a:ext cx="325128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reviews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3477875" y="2661285"/>
            <a:ext cx="3857625" cy="2125980"/>
          </a:xfrm>
          <a:prstGeom prst="roundRect">
            <a:avLst>
              <a:gd name="adj" fmla="val 7168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828395" y="3049905"/>
            <a:ext cx="325128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13828395" y="4078605"/>
            <a:ext cx="325128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coverage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19200" y="5168265"/>
            <a:ext cx="7943850" cy="332232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5556885"/>
            <a:ext cx="730312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DECISIONS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645920" y="6168390"/>
            <a:ext cx="76200" cy="7620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21" name="Text 19"/>
          <p:cNvSpPr/>
          <p:nvPr/>
        </p:nvSpPr>
        <p:spPr>
          <a:xfrm>
            <a:off x="1874520" y="6116955"/>
            <a:ext cx="2827295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10 reviews per product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74520" y="6440805"/>
            <a:ext cx="706766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this threshold the review signal is too weak for a meaningful embedding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645920" y="7338060"/>
            <a:ext cx="76200" cy="7620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24" name="Text 22"/>
          <p:cNvSpPr/>
          <p:nvPr/>
        </p:nvSpPr>
        <p:spPr>
          <a:xfrm>
            <a:off x="1874520" y="7286625"/>
            <a:ext cx="378286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reviews shorter than 25 tokens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874520" y="7610475"/>
            <a:ext cx="545199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"Love it!!", "Fast shipping" carry no semantic content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391650" y="5168265"/>
            <a:ext cx="7943850" cy="332232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99270" y="5175885"/>
            <a:ext cx="7928610" cy="330708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9" name="Text 26"/>
          <p:cNvSpPr/>
          <p:nvPr/>
        </p:nvSpPr>
        <p:spPr>
          <a:xfrm>
            <a:off x="609600" y="9852660"/>
            <a:ext cx="68714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DiscoverAI </a:t>
            </a:r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Mean-Squared-Terrors · Deloitte × LUISS 2026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7051179" y="9871710"/>
            <a:ext cx="70342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17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62000"/>
            <a:ext cx="761314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THE 5-STAR BIAS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19200" y="1230630"/>
            <a:ext cx="7613142" cy="1169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sampling: from 61.7% to 46.2% five-star reviews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1219200" y="2705100"/>
            <a:ext cx="7391400" cy="651510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26820" y="4930934"/>
            <a:ext cx="7376160" cy="20632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82100" y="0"/>
            <a:ext cx="9105900" cy="9791700"/>
          </a:xfrm>
          <a:prstGeom prst="rect">
            <a:avLst/>
          </a:prstGeom>
          <a:solidFill>
            <a:srgbClr val="F5F6F2"/>
          </a:solidFill>
          <a:ln/>
        </p:spPr>
      </p:sp>
      <p:sp>
        <p:nvSpPr>
          <p:cNvPr id="8" name="Shape 5"/>
          <p:cNvSpPr/>
          <p:nvPr/>
        </p:nvSpPr>
        <p:spPr>
          <a:xfrm>
            <a:off x="9753600" y="762000"/>
            <a:ext cx="7772400" cy="2887980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9753600" y="3642360"/>
            <a:ext cx="77724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10" name="Shape 7"/>
          <p:cNvSpPr/>
          <p:nvPr/>
        </p:nvSpPr>
        <p:spPr>
          <a:xfrm>
            <a:off x="9753600" y="762000"/>
            <a:ext cx="7772400" cy="381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1" name="Shape 8"/>
          <p:cNvSpPr/>
          <p:nvPr/>
        </p:nvSpPr>
        <p:spPr>
          <a:xfrm>
            <a:off x="9753600" y="762000"/>
            <a:ext cx="9525" cy="2887980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12" name="Shape 9"/>
          <p:cNvSpPr/>
          <p:nvPr/>
        </p:nvSpPr>
        <p:spPr>
          <a:xfrm>
            <a:off x="17518380" y="762000"/>
            <a:ext cx="9525" cy="2887980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13" name="Text 10"/>
          <p:cNvSpPr/>
          <p:nvPr/>
        </p:nvSpPr>
        <p:spPr>
          <a:xfrm>
            <a:off x="10142220" y="1143000"/>
            <a:ext cx="72050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142220" y="1592580"/>
            <a:ext cx="7205015" cy="1744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balancing, the model sees a corpus where 6 out of 10 reviews say "5 stars, love it" — useful signal drowns in praise. The bias correction is per-product, so even niche items keep a critical voice.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9753600" y="3916680"/>
            <a:ext cx="7772400" cy="2331720"/>
          </a:xfrm>
          <a:prstGeom prst="roundRect">
            <a:avLst>
              <a:gd name="adj" fmla="val 6536"/>
            </a:avLst>
          </a:prstGeom>
          <a:solidFill>
            <a:srgbClr val="1A2332"/>
          </a:solidFill>
          <a:ln/>
        </p:spPr>
      </p:sp>
      <p:sp>
        <p:nvSpPr>
          <p:cNvPr id="16" name="Text 13"/>
          <p:cNvSpPr/>
          <p:nvPr/>
        </p:nvSpPr>
        <p:spPr>
          <a:xfrm>
            <a:off x="10134600" y="4259580"/>
            <a:ext cx="722071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CAP WORKS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134600" y="4709160"/>
            <a:ext cx="722071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84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{5:5, 4:3, 3:2, 2:3, 1:3}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0134600" y="5173980"/>
            <a:ext cx="7220712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product, take at most this many reviews per rating, prioritising the most helpful within each band.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0" name="Text 17"/>
          <p:cNvSpPr/>
          <p:nvPr/>
        </p:nvSpPr>
        <p:spPr>
          <a:xfrm>
            <a:off x="609600" y="9852660"/>
            <a:ext cx="68714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DiscoverAI </a:t>
            </a:r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Mean-Squared-Terrors · Deloitte × LUISS 2026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7051179" y="9871710"/>
            <a:ext cx="70342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17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62000"/>
            <a:ext cx="761314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CHOICE #1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19200" y="1230630"/>
            <a:ext cx="7613142" cy="1169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Two-tower embedding: product and reviews kept separate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1219200" y="2628900"/>
            <a:ext cx="7391400" cy="15621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219200" y="4183380"/>
            <a:ext cx="73914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7" name="Shape 5"/>
          <p:cNvSpPr/>
          <p:nvPr/>
        </p:nvSpPr>
        <p:spPr>
          <a:xfrm>
            <a:off x="1219200" y="2628900"/>
            <a:ext cx="73914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8" name="Shape 6"/>
          <p:cNvSpPr/>
          <p:nvPr/>
        </p:nvSpPr>
        <p:spPr>
          <a:xfrm>
            <a:off x="1219200" y="2628900"/>
            <a:ext cx="38100" cy="15621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9" name="Shape 7"/>
          <p:cNvSpPr/>
          <p:nvPr/>
        </p:nvSpPr>
        <p:spPr>
          <a:xfrm>
            <a:off x="8602980" y="2628900"/>
            <a:ext cx="9525" cy="1562100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10" name="Text 8"/>
          <p:cNvSpPr/>
          <p:nvPr/>
        </p:nvSpPr>
        <p:spPr>
          <a:xfrm>
            <a:off x="1562100" y="2903220"/>
            <a:ext cx="693816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sources, two voices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62100" y="3276600"/>
            <a:ext cx="6938163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text says what the brand sells; reviews say how it actually works. Concatenating lets the noisier source dominate.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19200" y="4457700"/>
            <a:ext cx="7391400" cy="15621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9200" y="6012180"/>
            <a:ext cx="73914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9200" y="4457700"/>
            <a:ext cx="73914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15" name="Shape 13"/>
          <p:cNvSpPr/>
          <p:nvPr/>
        </p:nvSpPr>
        <p:spPr>
          <a:xfrm>
            <a:off x="1219200" y="4457700"/>
            <a:ext cx="38100" cy="15621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6" name="Shape 14"/>
          <p:cNvSpPr/>
          <p:nvPr/>
        </p:nvSpPr>
        <p:spPr>
          <a:xfrm>
            <a:off x="8602980" y="4457700"/>
            <a:ext cx="9525" cy="1562100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1562100" y="4732020"/>
            <a:ext cx="693816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encoder, two embeddings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62100" y="5105400"/>
            <a:ext cx="6938163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all-mpnet-base-v2 (768 dim, trained on 1B+ pairs): shared semantics, vectors we can weight separately.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19200" y="6286500"/>
            <a:ext cx="7391400" cy="15621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219200" y="7840980"/>
            <a:ext cx="73914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21" name="Shape 19"/>
          <p:cNvSpPr/>
          <p:nvPr/>
        </p:nvSpPr>
        <p:spPr>
          <a:xfrm>
            <a:off x="1219200" y="6286500"/>
            <a:ext cx="73914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22" name="Shape 20"/>
          <p:cNvSpPr/>
          <p:nvPr/>
        </p:nvSpPr>
        <p:spPr>
          <a:xfrm>
            <a:off x="1219200" y="6286500"/>
            <a:ext cx="38100" cy="15621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3" name="Shape 21"/>
          <p:cNvSpPr/>
          <p:nvPr/>
        </p:nvSpPr>
        <p:spPr>
          <a:xfrm>
            <a:off x="8602980" y="6286500"/>
            <a:ext cx="9525" cy="1562100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24" name="Text 22"/>
          <p:cNvSpPr/>
          <p:nvPr/>
        </p:nvSpPr>
        <p:spPr>
          <a:xfrm>
            <a:off x="1562100" y="6560820"/>
            <a:ext cx="693816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review aggregation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62100" y="6934200"/>
            <a:ext cx="6938163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helpful_vote score + 30% deviation from neutral rating: most useful reviews surface first.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82100" y="0"/>
            <a:ext cx="9105900" cy="97917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7" name="Shape 25"/>
          <p:cNvSpPr/>
          <p:nvPr/>
        </p:nvSpPr>
        <p:spPr>
          <a:xfrm>
            <a:off x="9944100" y="2878455"/>
            <a:ext cx="3468211" cy="1303020"/>
          </a:xfrm>
          <a:prstGeom prst="roundRect">
            <a:avLst>
              <a:gd name="adj" fmla="val 8772"/>
            </a:avLst>
          </a:prstGeom>
          <a:solidFill>
            <a:srgbClr val="86BC25">
              <a:alpha val="15000"/>
            </a:srgbClr>
          </a:solidFill>
          <a:ln w="15240">
            <a:solidFill>
              <a:srgbClr val="86BC25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82475" y="3103245"/>
            <a:ext cx="299146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182475" y="3438525"/>
            <a:ext cx="2991461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+ Brand · Features + Specs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3640912" y="2878455"/>
            <a:ext cx="3694589" cy="1303020"/>
          </a:xfrm>
          <a:prstGeom prst="roundRect">
            <a:avLst>
              <a:gd name="adj" fmla="val 8772"/>
            </a:avLst>
          </a:prstGeom>
          <a:solidFill>
            <a:srgbClr val="4A5E74">
              <a:alpha val="25000"/>
            </a:srgbClr>
          </a:solidFill>
          <a:ln w="15240">
            <a:solidFill>
              <a:srgbClr val="4A5E74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875891" y="3103245"/>
            <a:ext cx="32246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875891" y="3438525"/>
            <a:ext cx="3224630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avg (helpful + rating dist.)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298487" y="4333875"/>
            <a:ext cx="75882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↓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12322016" y="4821555"/>
            <a:ext cx="2635409" cy="1043940"/>
          </a:xfrm>
          <a:prstGeom prst="roundRect">
            <a:avLst>
              <a:gd name="adj" fmla="val 10949"/>
            </a:avLst>
          </a:prstGeom>
          <a:solidFill>
            <a:srgbClr val="86BC25"/>
          </a:solidFill>
          <a:ln w="15240">
            <a:solidFill>
              <a:srgbClr val="86BC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565856" y="5046345"/>
            <a:ext cx="214772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565856" y="5381625"/>
            <a:ext cx="214772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33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768-dim, normalised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681970" y="6017895"/>
            <a:ext cx="5915501" cy="617220"/>
          </a:xfrm>
          <a:prstGeom prst="roundRect">
            <a:avLst>
              <a:gd name="adj" fmla="val 15432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05658" y="6196965"/>
            <a:ext cx="546812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= α · product_emb + (1 − α) · review_emb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287512" y="6844665"/>
            <a:ext cx="47044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is per-product and dynamic (see next slide)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1" name="Text 39"/>
          <p:cNvSpPr/>
          <p:nvPr/>
        </p:nvSpPr>
        <p:spPr>
          <a:xfrm>
            <a:off x="609600" y="9852660"/>
            <a:ext cx="68714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DiscoverAI </a:t>
            </a:r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Mean-Squared-Terrors · Deloitte × LUISS 2026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7051179" y="9871710"/>
            <a:ext cx="70342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17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571500"/>
            <a:ext cx="761314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CHOICE #2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19200" y="1040130"/>
            <a:ext cx="7613142" cy="1735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alpha: the product decides the weight, not the engineer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1219200" y="2966085"/>
            <a:ext cx="7391400" cy="5755005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26820" y="4557078"/>
            <a:ext cx="7376160" cy="25730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9200" y="8949690"/>
            <a:ext cx="761314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distribution of α across the 7,593 products (mean 0.560)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82100" y="0"/>
            <a:ext cx="9105900" cy="9791700"/>
          </a:xfrm>
          <a:prstGeom prst="rect">
            <a:avLst/>
          </a:prstGeom>
          <a:solidFill>
            <a:srgbClr val="F5F6F2"/>
          </a:solidFill>
          <a:ln/>
        </p:spPr>
      </p:sp>
      <p:sp>
        <p:nvSpPr>
          <p:cNvPr id="9" name="Shape 6"/>
          <p:cNvSpPr/>
          <p:nvPr/>
        </p:nvSpPr>
        <p:spPr>
          <a:xfrm>
            <a:off x="9753600" y="762000"/>
            <a:ext cx="7772400" cy="41148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9753600" y="4869180"/>
            <a:ext cx="77724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11" name="Shape 8"/>
          <p:cNvSpPr/>
          <p:nvPr/>
        </p:nvSpPr>
        <p:spPr>
          <a:xfrm>
            <a:off x="9753600" y="762000"/>
            <a:ext cx="7772400" cy="38100"/>
          </a:xfrm>
          <a:prstGeom prst="rect">
            <a:avLst/>
          </a:prstGeom>
          <a:solidFill>
            <a:srgbClr val="4A5E74"/>
          </a:solidFill>
          <a:ln/>
        </p:spPr>
      </p:sp>
      <p:sp>
        <p:nvSpPr>
          <p:cNvPr id="12" name="Shape 9"/>
          <p:cNvSpPr/>
          <p:nvPr/>
        </p:nvSpPr>
        <p:spPr>
          <a:xfrm>
            <a:off x="9753600" y="762000"/>
            <a:ext cx="9525" cy="4114800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13" name="Shape 10"/>
          <p:cNvSpPr/>
          <p:nvPr/>
        </p:nvSpPr>
        <p:spPr>
          <a:xfrm>
            <a:off x="17518380" y="762000"/>
            <a:ext cx="9525" cy="4114800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14" name="Text 11"/>
          <p:cNvSpPr/>
          <p:nvPr/>
        </p:nvSpPr>
        <p:spPr>
          <a:xfrm>
            <a:off x="10142220" y="1143000"/>
            <a:ext cx="72050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4A5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SIGNAL → HIGH Α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142220" y="1573530"/>
            <a:ext cx="720501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text dominates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0142220" y="2007870"/>
            <a:ext cx="720501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reviews, low helpful_vote → product text carries the representation.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142220" y="2846070"/>
            <a:ext cx="7205015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4A5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≈ 0.70</a:t>
            </a:r>
            <a:endParaRPr lang="en-US" sz="2700" dirty="0"/>
          </a:p>
        </p:txBody>
      </p:sp>
      <p:sp>
        <p:nvSpPr>
          <p:cNvPr id="18" name="Shape 15"/>
          <p:cNvSpPr/>
          <p:nvPr/>
        </p:nvSpPr>
        <p:spPr>
          <a:xfrm>
            <a:off x="9753600" y="5105400"/>
            <a:ext cx="7772400" cy="41148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9753600" y="9212580"/>
            <a:ext cx="77724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20" name="Shape 17"/>
          <p:cNvSpPr/>
          <p:nvPr/>
        </p:nvSpPr>
        <p:spPr>
          <a:xfrm>
            <a:off x="9753600" y="5105400"/>
            <a:ext cx="7772400" cy="381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1" name="Shape 18"/>
          <p:cNvSpPr/>
          <p:nvPr/>
        </p:nvSpPr>
        <p:spPr>
          <a:xfrm>
            <a:off x="9753600" y="5105400"/>
            <a:ext cx="9525" cy="4114800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22" name="Shape 19"/>
          <p:cNvSpPr/>
          <p:nvPr/>
        </p:nvSpPr>
        <p:spPr>
          <a:xfrm>
            <a:off x="17518380" y="5105400"/>
            <a:ext cx="9525" cy="4114800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23" name="Text 20"/>
          <p:cNvSpPr/>
          <p:nvPr/>
        </p:nvSpPr>
        <p:spPr>
          <a:xfrm>
            <a:off x="10142220" y="5486400"/>
            <a:ext cx="72050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SIGNAL → LOW Α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0142220" y="5916930"/>
            <a:ext cx="720501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voice carries weight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142220" y="6351270"/>
            <a:ext cx="720501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helpful reviews, decisive rating → customer voice carries weight.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0142220" y="7189470"/>
            <a:ext cx="7205015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≈ 0.35</a:t>
            </a:r>
            <a:endParaRPr lang="en-US" sz="2700" dirty="0"/>
          </a:p>
        </p:txBody>
      </p:sp>
      <p:sp>
        <p:nvSpPr>
          <p:cNvPr id="27" name="Shape 24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8" name="Text 25"/>
          <p:cNvSpPr/>
          <p:nvPr/>
        </p:nvSpPr>
        <p:spPr>
          <a:xfrm>
            <a:off x="609600" y="9852660"/>
            <a:ext cx="68714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DiscoverAI </a:t>
            </a:r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Mean-Squared-Terrors · Deloitte × LUISS 2026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7051179" y="9871710"/>
            <a:ext cx="70342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571500"/>
            <a:ext cx="968517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EMBEDDING SPACE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19200" y="1040130"/>
            <a:ext cx="9685173" cy="1169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UMAP projection: semantic clusters emerge by category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219200" y="2324100"/>
            <a:ext cx="9685173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7,593 product embeddings · UMAP 2D · coloured by inferred category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19200" y="3406140"/>
            <a:ext cx="9403080" cy="6004560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26820" y="3413760"/>
            <a:ext cx="9387840" cy="5989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003280" y="0"/>
            <a:ext cx="7284720" cy="9791700"/>
          </a:xfrm>
          <a:prstGeom prst="rect">
            <a:avLst/>
          </a:prstGeom>
          <a:solidFill>
            <a:srgbClr val="F5F6F2"/>
          </a:solidFill>
          <a:ln/>
        </p:spPr>
      </p:sp>
      <p:sp>
        <p:nvSpPr>
          <p:cNvPr id="9" name="Text 6"/>
          <p:cNvSpPr/>
          <p:nvPr/>
        </p:nvSpPr>
        <p:spPr>
          <a:xfrm>
            <a:off x="11384280" y="3348990"/>
            <a:ext cx="632597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TELLS US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384280" y="4008120"/>
            <a:ext cx="76200" cy="7620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1" name="Text 8"/>
          <p:cNvSpPr/>
          <p:nvPr/>
        </p:nvSpPr>
        <p:spPr>
          <a:xfrm>
            <a:off x="11612880" y="3912870"/>
            <a:ext cx="42276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Supplements form a tight cluster top-left.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384280" y="4594860"/>
            <a:ext cx="76200" cy="7620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3" name="Text 10"/>
          <p:cNvSpPr/>
          <p:nvPr/>
        </p:nvSpPr>
        <p:spPr>
          <a:xfrm>
            <a:off x="11612880" y="4499610"/>
            <a:ext cx="460696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 Care separates cleanly from Skin Care.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1384280" y="5181600"/>
            <a:ext cx="76200" cy="7620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5" name="Text 12"/>
          <p:cNvSpPr/>
          <p:nvPr/>
        </p:nvSpPr>
        <p:spPr>
          <a:xfrm>
            <a:off x="11612880" y="5086350"/>
            <a:ext cx="6090513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Relief sits between supplements and topical products — it bridges both.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1384280" y="6088380"/>
            <a:ext cx="76200" cy="7620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7" name="Text 14"/>
          <p:cNvSpPr/>
          <p:nvPr/>
        </p:nvSpPr>
        <p:spPr>
          <a:xfrm>
            <a:off x="11612880" y="5993130"/>
            <a:ext cx="6090513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learned the catalogue's structure without ever being trained on it: proof of useful semantic geometry.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9" name="Text 16"/>
          <p:cNvSpPr/>
          <p:nvPr/>
        </p:nvSpPr>
        <p:spPr>
          <a:xfrm>
            <a:off x="609600" y="9852660"/>
            <a:ext cx="68714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DiscoverAI </a:t>
            </a:r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Mean-Squared-Terrors · Deloitte × LUISS 2026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7051179" y="9871710"/>
            <a:ext cx="70342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17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571500"/>
            <a:ext cx="968517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EMBEDDING SPACE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19200" y="1040130"/>
            <a:ext cx="9685173" cy="1169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query lands exactly where its products live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219200" y="2324100"/>
            <a:ext cx="9685173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 "affordable vitamin C serum anti-aging" · encoded with same MPNet, projected into same UMAP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19200" y="3406140"/>
            <a:ext cx="9403080" cy="6004560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26820" y="3413760"/>
            <a:ext cx="9387840" cy="5989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003280" y="0"/>
            <a:ext cx="7284720" cy="9791700"/>
          </a:xfrm>
          <a:prstGeom prst="rect">
            <a:avLst/>
          </a:prstGeom>
          <a:solidFill>
            <a:srgbClr val="F5F6F2"/>
          </a:solidFill>
          <a:ln/>
        </p:spPr>
      </p:sp>
      <p:sp>
        <p:nvSpPr>
          <p:cNvPr id="9" name="Text 6"/>
          <p:cNvSpPr/>
          <p:nvPr/>
        </p:nvSpPr>
        <p:spPr>
          <a:xfrm>
            <a:off x="11384280" y="3482340"/>
            <a:ext cx="632597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384280" y="4141470"/>
            <a:ext cx="76200" cy="7620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1" name="Text 8"/>
          <p:cNvSpPr/>
          <p:nvPr/>
        </p:nvSpPr>
        <p:spPr>
          <a:xfrm>
            <a:off x="11612880" y="4046220"/>
            <a:ext cx="6090513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query vector falls inside the supplement / skincare neighbourhood, not in a random spot.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384280" y="5048250"/>
            <a:ext cx="76200" cy="7620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3" name="Text 10"/>
          <p:cNvSpPr/>
          <p:nvPr/>
        </p:nvSpPr>
        <p:spPr>
          <a:xfrm>
            <a:off x="11612880" y="4953000"/>
            <a:ext cx="6090513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top-5 results (red circles) are pulled from that same neighbourhood.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1384280" y="5955030"/>
            <a:ext cx="76200" cy="7620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5" name="Text 12"/>
          <p:cNvSpPr/>
          <p:nvPr/>
        </p:nvSpPr>
        <p:spPr>
          <a:xfrm>
            <a:off x="11612880" y="5859780"/>
            <a:ext cx="6090513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gain interpretability for free: "why this result?" → because it's spatially close to your intent.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7" name="Text 14"/>
          <p:cNvSpPr/>
          <p:nvPr/>
        </p:nvSpPr>
        <p:spPr>
          <a:xfrm>
            <a:off x="609600" y="9852660"/>
            <a:ext cx="68714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DiscoverAI </a:t>
            </a:r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Mean-Squared-Terrors · Deloitte × LUISS 2026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7051179" y="9871710"/>
            <a:ext cx="70342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17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66750"/>
            <a:ext cx="1659978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CHOICE #3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19200" y="1135380"/>
            <a:ext cx="16599789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IndexFlatIP: exact search, no compromises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1219200" y="2044065"/>
            <a:ext cx="16116300" cy="3451860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26820" y="2051685"/>
            <a:ext cx="16101060" cy="8305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7" name="Text 5"/>
          <p:cNvSpPr/>
          <p:nvPr/>
        </p:nvSpPr>
        <p:spPr>
          <a:xfrm>
            <a:off x="1569720" y="2318385"/>
            <a:ext cx="356895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00554" y="2318385"/>
            <a:ext cx="356944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@ 7.6K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31864" y="2318385"/>
            <a:ext cx="189357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35033" y="2318385"/>
            <a:ext cx="481001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26820" y="2882265"/>
            <a:ext cx="16101060" cy="887730"/>
          </a:xfrm>
          <a:prstGeom prst="rect">
            <a:avLst/>
          </a:prstGeom>
          <a:solidFill>
            <a:srgbClr val="86BC25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26820" y="3762375"/>
            <a:ext cx="1610106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1569720" y="3148965"/>
            <a:ext cx="3568959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IndexFlatIP ✓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700554" y="3148965"/>
            <a:ext cx="3569449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negligible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831864" y="3148965"/>
            <a:ext cx="189357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335033" y="3148965"/>
            <a:ext cx="4810019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226820" y="4623435"/>
            <a:ext cx="1610106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18" name="Text 16"/>
          <p:cNvSpPr/>
          <p:nvPr/>
        </p:nvSpPr>
        <p:spPr>
          <a:xfrm>
            <a:off x="1569720" y="4036695"/>
            <a:ext cx="356895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IndexIVF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5700554" y="4036695"/>
            <a:ext cx="356944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831864" y="4036695"/>
            <a:ext cx="189357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0.95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2335033" y="4036695"/>
            <a:ext cx="48100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nlist, nprobe to tune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569720" y="4897755"/>
            <a:ext cx="356895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IndexHNSW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5700554" y="4897755"/>
            <a:ext cx="35694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831864" y="4897755"/>
            <a:ext cx="189357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0.97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335033" y="4897755"/>
            <a:ext cx="48100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M, efSearch, slow build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219200" y="5838825"/>
            <a:ext cx="16116300" cy="1428750"/>
          </a:xfrm>
          <a:prstGeom prst="roundRect">
            <a:avLst>
              <a:gd name="adj" fmla="val 10667"/>
            </a:avLst>
          </a:prstGeom>
          <a:solidFill>
            <a:srgbClr val="1A2332"/>
          </a:solidFill>
          <a:ln/>
        </p:spPr>
      </p:sp>
      <p:sp>
        <p:nvSpPr>
          <p:cNvPr id="27" name="Text 25"/>
          <p:cNvSpPr/>
          <p:nvPr/>
        </p:nvSpPr>
        <p:spPr>
          <a:xfrm>
            <a:off x="1638300" y="6181725"/>
            <a:ext cx="1576158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Defense: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FFFFFF"/>
                </a:solidFill>
                <a:highlight>
                  <a:srgbClr val="1A233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at 7,593 products exact search is effectively instant. An approximate index trades recall for speed we wouldn't notice. Approximate becomes the right answer once the catalogue grows past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 of millions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FFFFFF"/>
                </a:solidFill>
                <a:highlight>
                  <a:srgbClr val="1A233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9" name="Text 27"/>
          <p:cNvSpPr/>
          <p:nvPr/>
        </p:nvSpPr>
        <p:spPr>
          <a:xfrm>
            <a:off x="609600" y="9852660"/>
            <a:ext cx="68714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DiscoverAI </a:t>
            </a:r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Mean-Squared-Terrors · Deloitte × LUISS 2026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914813" y="9871710"/>
            <a:ext cx="83978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571500"/>
            <a:ext cx="1659978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&amp; RE-RANKING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19200" y="1040130"/>
            <a:ext cx="16599789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query to ranked results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1219200" y="1834515"/>
            <a:ext cx="2918460" cy="24765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55420" y="2474595"/>
            <a:ext cx="25222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55420" y="2886075"/>
            <a:ext cx="252222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55420" y="3350895"/>
            <a:ext cx="252222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intent, exclusions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99560" y="2916555"/>
            <a:ext cx="4572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518660" y="1834515"/>
            <a:ext cx="2918460" cy="24765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314575"/>
            <a:ext cx="25222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726055"/>
            <a:ext cx="252222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754880" y="3190875"/>
            <a:ext cx="252222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MPNet on the cleaned query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99020" y="2916555"/>
            <a:ext cx="4572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818120" y="1834515"/>
            <a:ext cx="2918460" cy="24765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4340" y="2474595"/>
            <a:ext cx="25222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54340" y="2886075"/>
            <a:ext cx="252222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054340" y="3350895"/>
            <a:ext cx="252222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top-80 candidates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698480" y="2916555"/>
            <a:ext cx="4572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117580" y="1834515"/>
            <a:ext cx="2918460" cy="24765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53800" y="2474595"/>
            <a:ext cx="25222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353800" y="2886075"/>
            <a:ext cx="252222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353800" y="3350895"/>
            <a:ext cx="252222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price, rating, exclusions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997940" y="2916555"/>
            <a:ext cx="4572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4417040" y="1834515"/>
            <a:ext cx="2918460" cy="24765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653260" y="2474595"/>
            <a:ext cx="25222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53260" y="2886075"/>
            <a:ext cx="252222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RE-RANK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4653260" y="3350895"/>
            <a:ext cx="252222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score + quality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19200" y="4539615"/>
            <a:ext cx="7962900" cy="4775835"/>
          </a:xfrm>
          <a:prstGeom prst="roundRect">
            <a:avLst>
              <a:gd name="adj" fmla="val 2792"/>
            </a:avLst>
          </a:prstGeom>
          <a:solidFill>
            <a:srgbClr val="1A2332"/>
          </a:solidFill>
          <a:ln/>
        </p:spPr>
      </p:sp>
      <p:sp>
        <p:nvSpPr>
          <p:cNvPr id="30" name="Shape 28"/>
          <p:cNvSpPr/>
          <p:nvPr/>
        </p:nvSpPr>
        <p:spPr>
          <a:xfrm>
            <a:off x="1219200" y="4539615"/>
            <a:ext cx="38100" cy="4775835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1" name="Text 29"/>
          <p:cNvSpPr/>
          <p:nvPr/>
        </p:nvSpPr>
        <p:spPr>
          <a:xfrm>
            <a:off x="1638300" y="4844415"/>
            <a:ext cx="737768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SCORE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38300" y="5313045"/>
            <a:ext cx="737768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similarity + β_quality · quality_score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638300" y="5808345"/>
            <a:ext cx="71628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638300" y="5930265"/>
            <a:ext cx="129921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β_quality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975610" y="5930265"/>
            <a:ext cx="6000254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0.12 — small enough that a low-quality product cannot overtake a genuinely more relevant one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38300" y="6627495"/>
            <a:ext cx="75057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β_pop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426970" y="6627495"/>
            <a:ext cx="651270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but disabled — degraded MRR by ~1.8% in ablation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638300" y="7004685"/>
            <a:ext cx="11734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2849880" y="7004685"/>
            <a:ext cx="612370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rises to 0.20 when mean similarity &lt; 0.65 (generic query)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372600" y="4539615"/>
            <a:ext cx="7962900" cy="4775835"/>
          </a:xfrm>
          <a:prstGeom prst="roundRect">
            <a:avLst>
              <a:gd name="adj" fmla="val 2792"/>
            </a:avLst>
          </a:prstGeom>
          <a:solidFill>
            <a:srgbClr val="1A2332"/>
          </a:solidFill>
          <a:ln/>
        </p:spPr>
      </p:sp>
      <p:sp>
        <p:nvSpPr>
          <p:cNvPr id="41" name="Shape 39"/>
          <p:cNvSpPr/>
          <p:nvPr/>
        </p:nvSpPr>
        <p:spPr>
          <a:xfrm>
            <a:off x="9372600" y="4539615"/>
            <a:ext cx="38100" cy="4775835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2" name="Text 40"/>
          <p:cNvSpPr/>
          <p:nvPr/>
        </p:nvSpPr>
        <p:spPr>
          <a:xfrm>
            <a:off x="9791700" y="4844415"/>
            <a:ext cx="737768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791700" y="5313045"/>
            <a:ext cx="737768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avg_rating + frac_positive + frac_negative + log(helpful_votes)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791700" y="5808345"/>
            <a:ext cx="7377684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 · avg_rating + fraction positive reviews + fraction negative reviews + log helpful_votes, min-max normalised to [0,1]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6" name="Text 44"/>
          <p:cNvSpPr/>
          <p:nvPr/>
        </p:nvSpPr>
        <p:spPr>
          <a:xfrm>
            <a:off x="609600" y="9852660"/>
            <a:ext cx="68714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DiscoverAI </a:t>
            </a:r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Mean-Squared-Terrors · Deloitte × LUISS 2026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6931799" y="9871710"/>
            <a:ext cx="82280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66750"/>
            <a:ext cx="968517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RE-RANKING PAYS OFF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19200" y="1135380"/>
            <a:ext cx="9685173" cy="1169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rating of top-5 results: similarity-only vs with re-ranking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219200" y="2419350"/>
            <a:ext cx="9685173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representative natural-language queries · β_quality=0.12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19200" y="3074670"/>
            <a:ext cx="9403080" cy="6336030"/>
          </a:xfrm>
          <a:prstGeom prst="roundRect">
            <a:avLst>
              <a:gd name="adj" fmla="val 2405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26820" y="4634230"/>
            <a:ext cx="9387840" cy="32167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003280" y="0"/>
            <a:ext cx="7284720" cy="9791700"/>
          </a:xfrm>
          <a:prstGeom prst="rect">
            <a:avLst/>
          </a:prstGeom>
          <a:solidFill>
            <a:srgbClr val="F5F6F2"/>
          </a:solidFill>
          <a:ln/>
        </p:spPr>
      </p:sp>
      <p:sp>
        <p:nvSpPr>
          <p:cNvPr id="9" name="Shape 6"/>
          <p:cNvSpPr/>
          <p:nvPr/>
        </p:nvSpPr>
        <p:spPr>
          <a:xfrm>
            <a:off x="11384280" y="2943225"/>
            <a:ext cx="6141720" cy="1783080"/>
          </a:xfrm>
          <a:prstGeom prst="roundRect">
            <a:avLst>
              <a:gd name="adj" fmla="val 8547"/>
            </a:avLst>
          </a:prstGeom>
          <a:solidFill>
            <a:srgbClr val="86BC25"/>
          </a:solidFill>
          <a:ln/>
        </p:spPr>
      </p:sp>
      <p:sp>
        <p:nvSpPr>
          <p:cNvPr id="10" name="Text 7"/>
          <p:cNvSpPr/>
          <p:nvPr/>
        </p:nvSpPr>
        <p:spPr>
          <a:xfrm>
            <a:off x="11684584" y="3286125"/>
            <a:ext cx="554111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+0.20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11684584" y="4124325"/>
            <a:ext cx="554111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33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 average lift in top-5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384280" y="5031105"/>
            <a:ext cx="6141720" cy="2007870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72900" y="5381625"/>
            <a:ext cx="55254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772900" y="5831205"/>
            <a:ext cx="552541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gain on noisy / generic queries such as </a:t>
            </a:r>
            <a:pPr algn="l" indent="0" marL="0">
              <a:lnSpc>
                <a:spcPct val="160000"/>
              </a:lnSpc>
              <a:buNone/>
            </a:pPr>
            <a:r>
              <a:rPr lang="en-US" sz="2100" i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toothbrush </a:t>
            </a:r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60000"/>
              </a:lnSpc>
              <a:buNone/>
            </a:pPr>
            <a:r>
              <a:rPr lang="en-US" sz="2100" i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aid</a:t>
            </a:r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6" name="Text 13"/>
          <p:cNvSpPr/>
          <p:nvPr/>
        </p:nvSpPr>
        <p:spPr>
          <a:xfrm>
            <a:off x="609600" y="9852660"/>
            <a:ext cx="68714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DiscoverAI </a:t>
            </a:r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Mean-Squared-Terrors · Deloitte × LUISS 2026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914813" y="9871710"/>
            <a:ext cx="83978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533400"/>
            <a:ext cx="1679600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ITERATING THE SEARCH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19200" y="1002030"/>
            <a:ext cx="16796004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Iterating through versions: Demo now uses hybrid_v4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1219200" y="1758315"/>
            <a:ext cx="3962400" cy="7614285"/>
          </a:xfrm>
          <a:prstGeom prst="roundRect">
            <a:avLst>
              <a:gd name="adj" fmla="val 3846"/>
            </a:avLst>
          </a:prstGeom>
          <a:solidFill>
            <a:srgbClr val="F7F8FA"/>
          </a:solidFill>
          <a:ln/>
        </p:spPr>
      </p:sp>
      <p:sp>
        <p:nvSpPr>
          <p:cNvPr id="6" name="Shape 4"/>
          <p:cNvSpPr/>
          <p:nvPr/>
        </p:nvSpPr>
        <p:spPr>
          <a:xfrm>
            <a:off x="1219200" y="9364980"/>
            <a:ext cx="3962400" cy="9525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7" name="Shape 5"/>
          <p:cNvSpPr/>
          <p:nvPr/>
        </p:nvSpPr>
        <p:spPr>
          <a:xfrm>
            <a:off x="1219200" y="1758315"/>
            <a:ext cx="3962400" cy="9525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8" name="Shape 6"/>
          <p:cNvSpPr/>
          <p:nvPr/>
        </p:nvSpPr>
        <p:spPr>
          <a:xfrm>
            <a:off x="1219200" y="1758315"/>
            <a:ext cx="45720" cy="7614285"/>
          </a:xfrm>
          <a:prstGeom prst="rect">
            <a:avLst/>
          </a:prstGeom>
          <a:solidFill>
            <a:srgbClr val="4A5E74"/>
          </a:solidFill>
          <a:ln/>
        </p:spPr>
      </p:sp>
      <p:sp>
        <p:nvSpPr>
          <p:cNvPr id="9" name="Shape 7"/>
          <p:cNvSpPr/>
          <p:nvPr/>
        </p:nvSpPr>
        <p:spPr>
          <a:xfrm>
            <a:off x="5173980" y="1758315"/>
            <a:ext cx="9525" cy="7614285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10" name="Text 8"/>
          <p:cNvSpPr/>
          <p:nvPr/>
        </p:nvSpPr>
        <p:spPr>
          <a:xfrm>
            <a:off x="1531620" y="2032635"/>
            <a:ext cx="34769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4A5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BASELINE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31620" y="2444115"/>
            <a:ext cx="34769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+ fixed re-ranking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31620" y="2779395"/>
            <a:ext cx="34769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531620" y="3276600"/>
            <a:ext cx="66675" cy="66675"/>
          </a:xfrm>
          <a:prstGeom prst="ellipse">
            <a:avLst/>
          </a:prstGeom>
          <a:solidFill>
            <a:srgbClr val="4A5E74"/>
          </a:solidFill>
          <a:ln/>
        </p:spPr>
      </p:sp>
      <p:sp>
        <p:nvSpPr>
          <p:cNvPr id="14" name="Text 12"/>
          <p:cNvSpPr/>
          <p:nvPr/>
        </p:nvSpPr>
        <p:spPr>
          <a:xfrm>
            <a:off x="1693545" y="3190875"/>
            <a:ext cx="331014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top-50 + score with fixed β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531620" y="3985260"/>
            <a:ext cx="66675" cy="66675"/>
          </a:xfrm>
          <a:prstGeom prst="ellipse">
            <a:avLst/>
          </a:prstGeom>
          <a:solidFill>
            <a:srgbClr val="4A5E74"/>
          </a:solidFill>
          <a:ln/>
        </p:spPr>
      </p:sp>
      <p:sp>
        <p:nvSpPr>
          <p:cNvPr id="16" name="Text 14"/>
          <p:cNvSpPr/>
          <p:nvPr/>
        </p:nvSpPr>
        <p:spPr>
          <a:xfrm>
            <a:off x="1693545" y="3899535"/>
            <a:ext cx="331014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"catalogue-style" queries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31620" y="4693920"/>
            <a:ext cx="66675" cy="66675"/>
          </a:xfrm>
          <a:prstGeom prst="ellipse">
            <a:avLst/>
          </a:prstGeom>
          <a:solidFill>
            <a:srgbClr val="4A5E74"/>
          </a:solidFill>
          <a:ln/>
        </p:spPr>
      </p:sp>
      <p:sp>
        <p:nvSpPr>
          <p:cNvPr id="18" name="Text 16"/>
          <p:cNvSpPr/>
          <p:nvPr/>
        </p:nvSpPr>
        <p:spPr>
          <a:xfrm>
            <a:off x="1693545" y="4608195"/>
            <a:ext cx="331014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on negation and natural language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334000" y="1758315"/>
            <a:ext cx="3962400" cy="7614285"/>
          </a:xfrm>
          <a:prstGeom prst="roundRect">
            <a:avLst>
              <a:gd name="adj" fmla="val 3846"/>
            </a:avLst>
          </a:prstGeom>
          <a:solidFill>
            <a:srgbClr val="FFFBF2"/>
          </a:solidFill>
          <a:ln/>
        </p:spPr>
      </p:sp>
      <p:sp>
        <p:nvSpPr>
          <p:cNvPr id="20" name="Shape 18"/>
          <p:cNvSpPr/>
          <p:nvPr/>
        </p:nvSpPr>
        <p:spPr>
          <a:xfrm>
            <a:off x="5334000" y="9364980"/>
            <a:ext cx="3962400" cy="9525"/>
          </a:xfrm>
          <a:prstGeom prst="rect">
            <a:avLst/>
          </a:prstGeom>
          <a:solidFill>
            <a:srgbClr val="F0D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5334000" y="1758315"/>
            <a:ext cx="3962400" cy="9525"/>
          </a:xfrm>
          <a:prstGeom prst="rect">
            <a:avLst/>
          </a:prstGeom>
          <a:solidFill>
            <a:srgbClr val="F0D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5334000" y="1758315"/>
            <a:ext cx="45720" cy="7614285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3" name="Shape 21"/>
          <p:cNvSpPr/>
          <p:nvPr/>
        </p:nvSpPr>
        <p:spPr>
          <a:xfrm>
            <a:off x="9288780" y="1758315"/>
            <a:ext cx="9525" cy="7614285"/>
          </a:xfrm>
          <a:prstGeom prst="rect">
            <a:avLst/>
          </a:prstGeom>
          <a:solidFill>
            <a:srgbClr val="F0D090"/>
          </a:solidFill>
          <a:ln/>
        </p:spPr>
      </p:sp>
      <p:sp>
        <p:nvSpPr>
          <p:cNvPr id="24" name="Text 22"/>
          <p:cNvSpPr/>
          <p:nvPr/>
        </p:nvSpPr>
        <p:spPr>
          <a:xfrm>
            <a:off x="5646420" y="2032635"/>
            <a:ext cx="34769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C07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· NEGATION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46420" y="2444115"/>
            <a:ext cx="34769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out what users exclude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46420" y="2779395"/>
            <a:ext cx="34769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observed failure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646420" y="3276600"/>
            <a:ext cx="66675" cy="66675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28" name="Text 26"/>
          <p:cNvSpPr/>
          <p:nvPr/>
        </p:nvSpPr>
        <p:spPr>
          <a:xfrm>
            <a:off x="5808345" y="3190875"/>
            <a:ext cx="331014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Patterns: "without X", "no X", "X-free"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646420" y="3985260"/>
            <a:ext cx="66675" cy="66675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0" name="Text 28"/>
          <p:cNvSpPr/>
          <p:nvPr/>
        </p:nvSpPr>
        <p:spPr>
          <a:xfrm>
            <a:off x="5808345" y="3899535"/>
            <a:ext cx="331014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terms post-filter the product text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46420" y="4693920"/>
            <a:ext cx="66675" cy="66675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2" name="Text 30"/>
          <p:cNvSpPr/>
          <p:nvPr/>
        </p:nvSpPr>
        <p:spPr>
          <a:xfrm>
            <a:off x="5808345" y="4608195"/>
            <a:ext cx="331014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"cream without parabens" stops returning paraben creams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448800" y="1758315"/>
            <a:ext cx="3962400" cy="7614285"/>
          </a:xfrm>
          <a:prstGeom prst="roundRect">
            <a:avLst>
              <a:gd name="adj" fmla="val 3846"/>
            </a:avLst>
          </a:prstGeom>
          <a:solidFill>
            <a:srgbClr val="F4FAE8"/>
          </a:solidFill>
          <a:ln/>
        </p:spPr>
      </p:sp>
      <p:sp>
        <p:nvSpPr>
          <p:cNvPr id="34" name="Shape 32"/>
          <p:cNvSpPr/>
          <p:nvPr/>
        </p:nvSpPr>
        <p:spPr>
          <a:xfrm>
            <a:off x="9448800" y="9364980"/>
            <a:ext cx="3962400" cy="9525"/>
          </a:xfrm>
          <a:prstGeom prst="rect">
            <a:avLst/>
          </a:prstGeom>
          <a:solidFill>
            <a:srgbClr val="C8E090"/>
          </a:solidFill>
          <a:ln/>
        </p:spPr>
      </p:sp>
      <p:sp>
        <p:nvSpPr>
          <p:cNvPr id="35" name="Shape 33"/>
          <p:cNvSpPr/>
          <p:nvPr/>
        </p:nvSpPr>
        <p:spPr>
          <a:xfrm>
            <a:off x="9448800" y="1758315"/>
            <a:ext cx="3962400" cy="9525"/>
          </a:xfrm>
          <a:prstGeom prst="rect">
            <a:avLst/>
          </a:prstGeom>
          <a:solidFill>
            <a:srgbClr val="C8E090"/>
          </a:solidFill>
          <a:ln/>
        </p:spPr>
      </p:sp>
      <p:sp>
        <p:nvSpPr>
          <p:cNvPr id="36" name="Shape 34"/>
          <p:cNvSpPr/>
          <p:nvPr/>
        </p:nvSpPr>
        <p:spPr>
          <a:xfrm>
            <a:off x="9448800" y="1758315"/>
            <a:ext cx="45720" cy="7614285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7" name="Shape 35"/>
          <p:cNvSpPr/>
          <p:nvPr/>
        </p:nvSpPr>
        <p:spPr>
          <a:xfrm>
            <a:off x="13403580" y="1758315"/>
            <a:ext cx="9525" cy="7614285"/>
          </a:xfrm>
          <a:prstGeom prst="rect">
            <a:avLst/>
          </a:prstGeom>
          <a:solidFill>
            <a:srgbClr val="C8E090"/>
          </a:solidFill>
          <a:ln/>
        </p:spPr>
      </p:sp>
      <p:sp>
        <p:nvSpPr>
          <p:cNvPr id="38" name="Text 36"/>
          <p:cNvSpPr/>
          <p:nvPr/>
        </p:nvSpPr>
        <p:spPr>
          <a:xfrm>
            <a:off x="9761220" y="2032635"/>
            <a:ext cx="34769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· PRODUCTION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761220" y="2444115"/>
            <a:ext cx="347693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Synonyms, price, dosages, adaptive β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761220" y="3076575"/>
            <a:ext cx="34769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Full-featured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761220" y="3573780"/>
            <a:ext cx="66675" cy="66675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42" name="Text 40"/>
          <p:cNvSpPr/>
          <p:nvPr/>
        </p:nvSpPr>
        <p:spPr>
          <a:xfrm>
            <a:off x="9923145" y="3488055"/>
            <a:ext cx="331014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Synonym expansion ("SPF" → sunscreen…)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761220" y="4282440"/>
            <a:ext cx="66675" cy="66675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44" name="Text 42"/>
          <p:cNvSpPr/>
          <p:nvPr/>
        </p:nvSpPr>
        <p:spPr>
          <a:xfrm>
            <a:off x="9923145" y="4196715"/>
            <a:ext cx="331014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Price-intent parsing ("affordable" → budget)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761220" y="4991100"/>
            <a:ext cx="66675" cy="66675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46" name="Text 44"/>
          <p:cNvSpPr/>
          <p:nvPr/>
        </p:nvSpPr>
        <p:spPr>
          <a:xfrm>
            <a:off x="9923145" y="4905375"/>
            <a:ext cx="331014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Dosage extraction (1000mg, SPF 50…)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761220" y="5699760"/>
            <a:ext cx="66675" cy="66675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48" name="Text 46"/>
          <p:cNvSpPr/>
          <p:nvPr/>
        </p:nvSpPr>
        <p:spPr>
          <a:xfrm>
            <a:off x="9923145" y="5614035"/>
            <a:ext cx="331014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β_quality: 0.20 when mean sim &lt; 0.65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3563600" y="1758315"/>
            <a:ext cx="3962400" cy="7614285"/>
          </a:xfrm>
          <a:prstGeom prst="roundRect">
            <a:avLst>
              <a:gd name="adj" fmla="val 3846"/>
            </a:avLst>
          </a:prstGeom>
          <a:solidFill>
            <a:srgbClr val="F0FAFA"/>
          </a:solidFill>
          <a:ln/>
        </p:spPr>
      </p:sp>
      <p:sp>
        <p:nvSpPr>
          <p:cNvPr id="50" name="Shape 48"/>
          <p:cNvSpPr/>
          <p:nvPr/>
        </p:nvSpPr>
        <p:spPr>
          <a:xfrm>
            <a:off x="13563600" y="9364980"/>
            <a:ext cx="3962400" cy="9525"/>
          </a:xfrm>
          <a:prstGeom prst="rect">
            <a:avLst/>
          </a:prstGeom>
          <a:solidFill>
            <a:srgbClr val="80D0D8"/>
          </a:solidFill>
          <a:ln/>
        </p:spPr>
      </p:sp>
      <p:sp>
        <p:nvSpPr>
          <p:cNvPr id="51" name="Shape 49"/>
          <p:cNvSpPr/>
          <p:nvPr/>
        </p:nvSpPr>
        <p:spPr>
          <a:xfrm>
            <a:off x="13563600" y="1758315"/>
            <a:ext cx="3962400" cy="9525"/>
          </a:xfrm>
          <a:prstGeom prst="rect">
            <a:avLst/>
          </a:prstGeom>
          <a:solidFill>
            <a:srgbClr val="80D0D8"/>
          </a:solidFill>
          <a:ln/>
        </p:spPr>
      </p:sp>
      <p:sp>
        <p:nvSpPr>
          <p:cNvPr id="52" name="Shape 50"/>
          <p:cNvSpPr/>
          <p:nvPr/>
        </p:nvSpPr>
        <p:spPr>
          <a:xfrm>
            <a:off x="13563600" y="1758315"/>
            <a:ext cx="45720" cy="7614285"/>
          </a:xfrm>
          <a:prstGeom prst="rect">
            <a:avLst/>
          </a:prstGeom>
          <a:solidFill>
            <a:srgbClr val="1A9FAA"/>
          </a:solidFill>
          <a:ln/>
        </p:spPr>
      </p:sp>
      <p:sp>
        <p:nvSpPr>
          <p:cNvPr id="53" name="Shape 51"/>
          <p:cNvSpPr/>
          <p:nvPr/>
        </p:nvSpPr>
        <p:spPr>
          <a:xfrm>
            <a:off x="17518380" y="1758315"/>
            <a:ext cx="9525" cy="7614285"/>
          </a:xfrm>
          <a:prstGeom prst="rect">
            <a:avLst/>
          </a:prstGeom>
          <a:solidFill>
            <a:srgbClr val="80D0D8"/>
          </a:solidFill>
          <a:ln/>
        </p:spPr>
      </p:sp>
      <p:sp>
        <p:nvSpPr>
          <p:cNvPr id="54" name="Text 52"/>
          <p:cNvSpPr/>
          <p:nvPr/>
        </p:nvSpPr>
        <p:spPr>
          <a:xfrm>
            <a:off x="13876020" y="2032635"/>
            <a:ext cx="347693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1A9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· PRODUCTION (BEST VERSION)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3876020" y="2741295"/>
            <a:ext cx="347693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v4: BM25 + Semantic + RRF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3876020" y="3373755"/>
            <a:ext cx="34769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the demo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3876020" y="3870960"/>
            <a:ext cx="66675" cy="66675"/>
          </a:xfrm>
          <a:prstGeom prst="ellipse">
            <a:avLst/>
          </a:prstGeom>
          <a:solidFill>
            <a:srgbClr val="1A9FAA"/>
          </a:solidFill>
          <a:ln/>
        </p:spPr>
      </p:sp>
      <p:sp>
        <p:nvSpPr>
          <p:cNvPr id="58" name="Text 56"/>
          <p:cNvSpPr/>
          <p:nvPr/>
        </p:nvSpPr>
        <p:spPr>
          <a:xfrm>
            <a:off x="14037945" y="3785235"/>
            <a:ext cx="29976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powered by hybrid_v4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3876020" y="4282440"/>
            <a:ext cx="66675" cy="66675"/>
          </a:xfrm>
          <a:prstGeom prst="ellipse">
            <a:avLst/>
          </a:prstGeom>
          <a:solidFill>
            <a:srgbClr val="1A9FAA"/>
          </a:solidFill>
          <a:ln/>
        </p:spPr>
      </p:sp>
      <p:sp>
        <p:nvSpPr>
          <p:cNvPr id="60" name="Text 58"/>
          <p:cNvSpPr/>
          <p:nvPr/>
        </p:nvSpPr>
        <p:spPr>
          <a:xfrm>
            <a:off x="14037945" y="4196715"/>
            <a:ext cx="331014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+ Semantic + Reciprocal Rank Fusion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3876020" y="4991100"/>
            <a:ext cx="66675" cy="66675"/>
          </a:xfrm>
          <a:prstGeom prst="ellipse">
            <a:avLst/>
          </a:prstGeom>
          <a:solidFill>
            <a:srgbClr val="1A9FAA"/>
          </a:solidFill>
          <a:ln/>
        </p:spPr>
      </p:sp>
      <p:sp>
        <p:nvSpPr>
          <p:cNvPr id="62" name="Text 60"/>
          <p:cNvSpPr/>
          <p:nvPr/>
        </p:nvSpPr>
        <p:spPr>
          <a:xfrm>
            <a:off x="14037945" y="4905375"/>
            <a:ext cx="331014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— NDCG@5 = 0.526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64" name="Text 62"/>
          <p:cNvSpPr/>
          <p:nvPr/>
        </p:nvSpPr>
        <p:spPr>
          <a:xfrm>
            <a:off x="609600" y="9852660"/>
            <a:ext cx="68714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DiscoverAI </a:t>
            </a:r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Mean-Squared-Terrors · Deloitte × LUISS 2026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16914813" y="9871710"/>
            <a:ext cx="83978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Shape 1"/>
          <p:cNvSpPr/>
          <p:nvPr/>
        </p:nvSpPr>
        <p:spPr>
          <a:xfrm>
            <a:off x="9174480" y="0"/>
            <a:ext cx="9525" cy="9791700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4" name="Text 2"/>
          <p:cNvSpPr/>
          <p:nvPr/>
        </p:nvSpPr>
        <p:spPr>
          <a:xfrm>
            <a:off x="1219200" y="762000"/>
            <a:ext cx="750718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SUMMARIZATION &amp; EXTRACTION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19200" y="1230630"/>
            <a:ext cx="7507186" cy="1169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thousands of reviews to a readable card in seconds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219200" y="2628900"/>
            <a:ext cx="750718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19200" y="3192780"/>
            <a:ext cx="7507186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BART-Large-CNN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219200" y="3994785"/>
            <a:ext cx="76200" cy="7620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9" name="Text 7"/>
          <p:cNvSpPr/>
          <p:nvPr/>
        </p:nvSpPr>
        <p:spPr>
          <a:xfrm>
            <a:off x="1428750" y="3909060"/>
            <a:ext cx="453845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positive (≥4★) and negative (≤2★)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19200" y="4581525"/>
            <a:ext cx="76200" cy="7620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1" name="Text 9"/>
          <p:cNvSpPr/>
          <p:nvPr/>
        </p:nvSpPr>
        <p:spPr>
          <a:xfrm>
            <a:off x="1428750" y="4495800"/>
            <a:ext cx="513298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Filters: ≥12 words, no "I…", &lt;300 chars, deduped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19200" y="5168265"/>
            <a:ext cx="76200" cy="7620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3" name="Text 11"/>
          <p:cNvSpPr/>
          <p:nvPr/>
        </p:nvSpPr>
        <p:spPr>
          <a:xfrm>
            <a:off x="1428750" y="5082540"/>
            <a:ext cx="418379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 produces summary + pros + cons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19200" y="5755005"/>
            <a:ext cx="76200" cy="7620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5" name="Text 13"/>
          <p:cNvSpPr/>
          <p:nvPr/>
        </p:nvSpPr>
        <p:spPr>
          <a:xfrm>
            <a:off x="1428750" y="5669280"/>
            <a:ext cx="729135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Extractive fallback if &lt; 5 reviews — avoids hallucinations on thin evidence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82100" y="0"/>
            <a:ext cx="9105900" cy="9791700"/>
          </a:xfrm>
          <a:prstGeom prst="rect">
            <a:avLst/>
          </a:prstGeom>
          <a:solidFill>
            <a:srgbClr val="F5F6F2"/>
          </a:solidFill>
          <a:ln/>
        </p:spPr>
      </p:sp>
      <p:sp>
        <p:nvSpPr>
          <p:cNvPr id="17" name="Text 15"/>
          <p:cNvSpPr/>
          <p:nvPr/>
        </p:nvSpPr>
        <p:spPr>
          <a:xfrm>
            <a:off x="9944100" y="2438400"/>
            <a:ext cx="790746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RECOGNITION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44100" y="3002280"/>
            <a:ext cx="790746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regex + spaCy NER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944100" y="3619500"/>
            <a:ext cx="790746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INGREDIENTS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944100" y="3992880"/>
            <a:ext cx="1003618" cy="426720"/>
          </a:xfrm>
          <a:prstGeom prst="roundRect">
            <a:avLst>
              <a:gd name="adj" fmla="val 50000"/>
            </a:avLst>
          </a:prstGeom>
          <a:solidFill>
            <a:srgbClr val="86BC25">
              <a:alpha val="12000"/>
            </a:srgbClr>
          </a:solidFill>
          <a:ln w="7620">
            <a:solidFill>
              <a:srgbClr val="86BC25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04120" y="4057650"/>
            <a:ext cx="75977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retinol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023918" y="3992880"/>
            <a:ext cx="1630839" cy="426720"/>
          </a:xfrm>
          <a:prstGeom prst="roundRect">
            <a:avLst>
              <a:gd name="adj" fmla="val 50000"/>
            </a:avLst>
          </a:prstGeom>
          <a:solidFill>
            <a:srgbClr val="86BC25">
              <a:alpha val="12000"/>
            </a:srgbClr>
          </a:solidFill>
          <a:ln w="7620">
            <a:solidFill>
              <a:srgbClr val="86BC25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83938" y="4057650"/>
            <a:ext cx="138699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niacinamide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730957" y="3992880"/>
            <a:ext cx="1949768" cy="426720"/>
          </a:xfrm>
          <a:prstGeom prst="roundRect">
            <a:avLst>
              <a:gd name="adj" fmla="val 50000"/>
            </a:avLst>
          </a:prstGeom>
          <a:solidFill>
            <a:srgbClr val="86BC25">
              <a:alpha val="12000"/>
            </a:srgbClr>
          </a:solidFill>
          <a:ln w="7620">
            <a:solidFill>
              <a:srgbClr val="86BC25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90977" y="4057650"/>
            <a:ext cx="17059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hyaluronic acid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4756924" y="3992880"/>
            <a:ext cx="711835" cy="426720"/>
          </a:xfrm>
          <a:prstGeom prst="roundRect">
            <a:avLst>
              <a:gd name="adj" fmla="val 50000"/>
            </a:avLst>
          </a:prstGeom>
          <a:solidFill>
            <a:srgbClr val="86BC25">
              <a:alpha val="12000"/>
            </a:srgbClr>
          </a:solidFill>
          <a:ln w="7620">
            <a:solidFill>
              <a:srgbClr val="86BC25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16944" y="4057650"/>
            <a:ext cx="46799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SPF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544958" y="3992880"/>
            <a:ext cx="1313180" cy="426720"/>
          </a:xfrm>
          <a:prstGeom prst="roundRect">
            <a:avLst>
              <a:gd name="adj" fmla="val 50000"/>
            </a:avLst>
          </a:prstGeom>
          <a:solidFill>
            <a:srgbClr val="86BC25">
              <a:alpha val="12000"/>
            </a:srgbClr>
          </a:solidFill>
          <a:ln w="7620">
            <a:solidFill>
              <a:srgbClr val="86BC25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704978" y="4057650"/>
            <a:ext cx="106934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omega-3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944100" y="4838700"/>
            <a:ext cx="790746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944100" y="5212080"/>
            <a:ext cx="1119346" cy="426720"/>
          </a:xfrm>
          <a:prstGeom prst="roundRect">
            <a:avLst>
              <a:gd name="adj" fmla="val 50000"/>
            </a:avLst>
          </a:prstGeom>
          <a:solidFill>
            <a:srgbClr val="86BC25">
              <a:alpha val="12000"/>
            </a:srgbClr>
          </a:solidFill>
          <a:ln w="7620">
            <a:solidFill>
              <a:srgbClr val="86BC25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04120" y="5276850"/>
            <a:ext cx="87550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139646" y="5212080"/>
            <a:ext cx="957104" cy="426720"/>
          </a:xfrm>
          <a:prstGeom prst="roundRect">
            <a:avLst>
              <a:gd name="adj" fmla="val 50000"/>
            </a:avLst>
          </a:prstGeom>
          <a:solidFill>
            <a:srgbClr val="86BC25">
              <a:alpha val="12000"/>
            </a:srgbClr>
          </a:solidFill>
          <a:ln w="7620">
            <a:solidFill>
              <a:srgbClr val="86BC25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299666" y="5276850"/>
            <a:ext cx="71326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vegan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2172950" y="5212080"/>
            <a:ext cx="1631950" cy="426720"/>
          </a:xfrm>
          <a:prstGeom prst="roundRect">
            <a:avLst>
              <a:gd name="adj" fmla="val 50000"/>
            </a:avLst>
          </a:prstGeom>
          <a:solidFill>
            <a:srgbClr val="86BC25">
              <a:alpha val="12000"/>
            </a:srgbClr>
          </a:solidFill>
          <a:ln w="7620">
            <a:solidFill>
              <a:srgbClr val="86BC25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332970" y="5276850"/>
            <a:ext cx="138811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cruelty-free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3881100" y="5212080"/>
            <a:ext cx="1768475" cy="426720"/>
          </a:xfrm>
          <a:prstGeom prst="roundRect">
            <a:avLst>
              <a:gd name="adj" fmla="val 50000"/>
            </a:avLst>
          </a:prstGeom>
          <a:solidFill>
            <a:srgbClr val="86BC25">
              <a:alpha val="12000"/>
            </a:srgbClr>
          </a:solidFill>
          <a:ln w="7620">
            <a:solidFill>
              <a:srgbClr val="86BC25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041120" y="5276850"/>
            <a:ext cx="152463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paraben-free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944100" y="6057900"/>
            <a:ext cx="790746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USE-CASE TARGETS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944100" y="6431280"/>
            <a:ext cx="1305560" cy="426720"/>
          </a:xfrm>
          <a:prstGeom prst="roundRect">
            <a:avLst>
              <a:gd name="adj" fmla="val 50000"/>
            </a:avLst>
          </a:prstGeom>
          <a:solidFill>
            <a:srgbClr val="86BC25">
              <a:alpha val="12000"/>
            </a:srgbClr>
          </a:solidFill>
          <a:ln w="7620">
            <a:solidFill>
              <a:srgbClr val="86BC25">
                <a:alpha val="3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104120" y="6496050"/>
            <a:ext cx="10617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 type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1325860" y="6431280"/>
            <a:ext cx="1281271" cy="426720"/>
          </a:xfrm>
          <a:prstGeom prst="roundRect">
            <a:avLst>
              <a:gd name="adj" fmla="val 50000"/>
            </a:avLst>
          </a:prstGeom>
          <a:solidFill>
            <a:srgbClr val="86BC25">
              <a:alpha val="12000"/>
            </a:srgbClr>
          </a:solidFill>
          <a:ln w="7620">
            <a:solidFill>
              <a:srgbClr val="86BC25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85880" y="6496050"/>
            <a:ext cx="103743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 type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2683332" y="6431280"/>
            <a:ext cx="1389698" cy="426720"/>
          </a:xfrm>
          <a:prstGeom prst="roundRect">
            <a:avLst>
              <a:gd name="adj" fmla="val 50000"/>
            </a:avLst>
          </a:prstGeom>
          <a:solidFill>
            <a:srgbClr val="86BC25">
              <a:alpha val="12000"/>
            </a:srgbClr>
          </a:solidFill>
          <a:ln w="7620">
            <a:solidFill>
              <a:srgbClr val="86BC25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843352" y="6496050"/>
            <a:ext cx="114585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4149229" y="6431280"/>
            <a:ext cx="1404779" cy="426720"/>
          </a:xfrm>
          <a:prstGeom prst="roundRect">
            <a:avLst>
              <a:gd name="adj" fmla="val 50000"/>
            </a:avLst>
          </a:prstGeom>
          <a:solidFill>
            <a:srgbClr val="86BC25">
              <a:alpha val="12000"/>
            </a:srgbClr>
          </a:solidFill>
          <a:ln w="7620">
            <a:solidFill>
              <a:srgbClr val="86BC25">
                <a:alpha val="3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309249" y="6496050"/>
            <a:ext cx="116093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area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9" name="Text 47"/>
          <p:cNvSpPr/>
          <p:nvPr/>
        </p:nvSpPr>
        <p:spPr>
          <a:xfrm>
            <a:off x="609600" y="9852660"/>
            <a:ext cx="68714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DiscoverAI </a:t>
            </a:r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Mean-Squared-Terrors · Deloitte × LUISS 2026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6914813" y="9871710"/>
            <a:ext cx="83978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571500"/>
            <a:ext cx="1659978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19200" y="1040130"/>
            <a:ext cx="16599789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Gradio interface, 3 tabs, the entire pipeline integrated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1219200" y="1796415"/>
            <a:ext cx="5194300" cy="7538085"/>
          </a:xfrm>
          <a:prstGeom prst="roundRect">
            <a:avLst>
              <a:gd name="adj" fmla="val 2934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7820" y="2223135"/>
            <a:ext cx="454957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7820" y="2710815"/>
            <a:ext cx="4549572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07820" y="3297555"/>
            <a:ext cx="454957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Free-text query with optional filters for price bucket and minimum rating.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07820" y="4427220"/>
            <a:ext cx="57150" cy="5715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0" name="Text 8"/>
          <p:cNvSpPr/>
          <p:nvPr/>
        </p:nvSpPr>
        <p:spPr>
          <a:xfrm>
            <a:off x="1779270" y="4326255"/>
            <a:ext cx="285362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image, rating, price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07820" y="4781550"/>
            <a:ext cx="57150" cy="5715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2" name="Text 10"/>
          <p:cNvSpPr/>
          <p:nvPr/>
        </p:nvSpPr>
        <p:spPr>
          <a:xfrm>
            <a:off x="1779270" y="4680585"/>
            <a:ext cx="312308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 summary (pros &amp; cons)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607820" y="5265420"/>
            <a:ext cx="57150" cy="5715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4" name="Text 12"/>
          <p:cNvSpPr/>
          <p:nvPr/>
        </p:nvSpPr>
        <p:spPr>
          <a:xfrm>
            <a:off x="1779270" y="5034915"/>
            <a:ext cx="437297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active ingredients &amp; certifications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607820" y="5878830"/>
            <a:ext cx="57150" cy="5715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6" name="Text 14"/>
          <p:cNvSpPr/>
          <p:nvPr/>
        </p:nvSpPr>
        <p:spPr>
          <a:xfrm>
            <a:off x="1779270" y="5648325"/>
            <a:ext cx="437297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hybrid_v4 (BM25 + semantic + RRF)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607820" y="6492240"/>
            <a:ext cx="57150" cy="5715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8" name="Text 16"/>
          <p:cNvSpPr/>
          <p:nvPr/>
        </p:nvSpPr>
        <p:spPr>
          <a:xfrm>
            <a:off x="1779270" y="6261735"/>
            <a:ext cx="437297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negation, synonym expansion, price-intent parsing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680200" y="1796415"/>
            <a:ext cx="5194300" cy="7538085"/>
          </a:xfrm>
          <a:prstGeom prst="roundRect">
            <a:avLst>
              <a:gd name="adj" fmla="val 2934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68820" y="2223135"/>
            <a:ext cx="454957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68820" y="2710815"/>
            <a:ext cx="4549572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Products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068820" y="3297555"/>
            <a:ext cx="454957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Content-based recommendation: from a product name, returns the 5 most similar on the combined embedding.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068820" y="4770120"/>
            <a:ext cx="57150" cy="5715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24" name="Text 22"/>
          <p:cNvSpPr/>
          <p:nvPr/>
        </p:nvSpPr>
        <p:spPr>
          <a:xfrm>
            <a:off x="7240270" y="4669155"/>
            <a:ext cx="284070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text encoding at runtime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068820" y="5253990"/>
            <a:ext cx="57150" cy="5715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26" name="Text 24"/>
          <p:cNvSpPr/>
          <p:nvPr/>
        </p:nvSpPr>
        <p:spPr>
          <a:xfrm>
            <a:off x="7240270" y="5023485"/>
            <a:ext cx="437297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operates directly on combined_emb matrix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068820" y="5737860"/>
            <a:ext cx="57150" cy="5715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28" name="Text 26"/>
          <p:cNvSpPr/>
          <p:nvPr/>
        </p:nvSpPr>
        <p:spPr>
          <a:xfrm>
            <a:off x="7240270" y="5636895"/>
            <a:ext cx="400523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lookup via FAISS inner-product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068820" y="6221730"/>
            <a:ext cx="57150" cy="5715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30" name="Text 28"/>
          <p:cNvSpPr/>
          <p:nvPr/>
        </p:nvSpPr>
        <p:spPr>
          <a:xfrm>
            <a:off x="7240270" y="5991225"/>
            <a:ext cx="437297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image, rating, price, BART summary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141200" y="1796415"/>
            <a:ext cx="5194300" cy="7538085"/>
          </a:xfrm>
          <a:prstGeom prst="roundRect">
            <a:avLst>
              <a:gd name="adj" fmla="val 2934"/>
            </a:avLst>
          </a:prstGeom>
          <a:solidFill>
            <a:srgbClr val="FFFFFF"/>
          </a:solidFill>
          <a:ln w="7620">
            <a:solidFill>
              <a:srgbClr val="E5E8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529820" y="2223135"/>
            <a:ext cx="454957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529820" y="2710815"/>
            <a:ext cx="4549572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Info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2529820" y="3297555"/>
            <a:ext cx="454957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transparency for evaluators: index size, model in use, feature coverage.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2529820" y="4427220"/>
            <a:ext cx="57150" cy="5715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36" name="Text 34"/>
          <p:cNvSpPr/>
          <p:nvPr/>
        </p:nvSpPr>
        <p:spPr>
          <a:xfrm>
            <a:off x="12701270" y="4326255"/>
            <a:ext cx="396615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stats (7,593 products · 768-dim)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2529820" y="4911090"/>
            <a:ext cx="57150" cy="5715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38" name="Text 36"/>
          <p:cNvSpPr/>
          <p:nvPr/>
        </p:nvSpPr>
        <p:spPr>
          <a:xfrm>
            <a:off x="12701270" y="4680585"/>
            <a:ext cx="437297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all-mpnet-base-v2 + BART-Large-CNN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2529820" y="5394960"/>
            <a:ext cx="57150" cy="5715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40" name="Text 38"/>
          <p:cNvSpPr/>
          <p:nvPr/>
        </p:nvSpPr>
        <p:spPr>
          <a:xfrm>
            <a:off x="12701270" y="5293995"/>
            <a:ext cx="401832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coverage (summaries, entities)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2529820" y="5749290"/>
            <a:ext cx="57150" cy="5715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42" name="Text 40"/>
          <p:cNvSpPr/>
          <p:nvPr/>
        </p:nvSpPr>
        <p:spPr>
          <a:xfrm>
            <a:off x="12701270" y="5648325"/>
            <a:ext cx="436889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NDCG@5 = 0.526 (hybrid_v4)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4" name="Text 42"/>
          <p:cNvSpPr/>
          <p:nvPr/>
        </p:nvSpPr>
        <p:spPr>
          <a:xfrm>
            <a:off x="609600" y="9852660"/>
            <a:ext cx="68714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DiscoverAI </a:t>
            </a:r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Mean-Squared-Terrors · Deloitte × LUISS 2026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6914813" y="9871710"/>
            <a:ext cx="83978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571500"/>
            <a:ext cx="1659978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A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CHOICES WE DEFEND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19200" y="1040130"/>
            <a:ext cx="16599789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spc="-81" kern="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architectural decisions we would make again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1219200" y="1872615"/>
            <a:ext cx="5245100" cy="3673793"/>
          </a:xfrm>
          <a:prstGeom prst="roundRect">
            <a:avLst>
              <a:gd name="adj" fmla="val 363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219200" y="5538788"/>
            <a:ext cx="52451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7" name="Shape 5"/>
          <p:cNvSpPr/>
          <p:nvPr/>
        </p:nvSpPr>
        <p:spPr>
          <a:xfrm>
            <a:off x="1219200" y="1872615"/>
            <a:ext cx="52451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8" name="Shape 6"/>
          <p:cNvSpPr/>
          <p:nvPr/>
        </p:nvSpPr>
        <p:spPr>
          <a:xfrm>
            <a:off x="1219200" y="1872615"/>
            <a:ext cx="38100" cy="3673793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9" name="Shape 7"/>
          <p:cNvSpPr/>
          <p:nvPr/>
        </p:nvSpPr>
        <p:spPr>
          <a:xfrm>
            <a:off x="6456680" y="1872615"/>
            <a:ext cx="9525" cy="3673793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10" name="Text 8"/>
          <p:cNvSpPr/>
          <p:nvPr/>
        </p:nvSpPr>
        <p:spPr>
          <a:xfrm>
            <a:off x="1562100" y="2185035"/>
            <a:ext cx="472747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Two-tower over concatenation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62100" y="2573655"/>
            <a:ext cx="472747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Mixing product and review text in one 512-token sequence lets the noisier source dominate. Two towers let us weight contributions explicitly.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654800" y="1872615"/>
            <a:ext cx="5245100" cy="3673793"/>
          </a:xfrm>
          <a:prstGeom prst="roundRect">
            <a:avLst>
              <a:gd name="adj" fmla="val 363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654800" y="5538788"/>
            <a:ext cx="52451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14" name="Shape 12"/>
          <p:cNvSpPr/>
          <p:nvPr/>
        </p:nvSpPr>
        <p:spPr>
          <a:xfrm>
            <a:off x="6654800" y="1872615"/>
            <a:ext cx="52451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15" name="Shape 13"/>
          <p:cNvSpPr/>
          <p:nvPr/>
        </p:nvSpPr>
        <p:spPr>
          <a:xfrm>
            <a:off x="6654800" y="1872615"/>
            <a:ext cx="38100" cy="3673793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92280" y="1872615"/>
            <a:ext cx="9525" cy="3673793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6997700" y="2185035"/>
            <a:ext cx="472747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α over fixed 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97700" y="2573655"/>
            <a:ext cx="472747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average weight punishes products with credible review evidence and inflates those with thin reviews. Per-product α respects both ends.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90400" y="1872615"/>
            <a:ext cx="5245100" cy="3673793"/>
          </a:xfrm>
          <a:prstGeom prst="roundRect">
            <a:avLst>
              <a:gd name="adj" fmla="val 363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90400" y="5538788"/>
            <a:ext cx="52451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90400" y="1872615"/>
            <a:ext cx="52451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90400" y="1872615"/>
            <a:ext cx="38100" cy="3673793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3" name="Shape 21"/>
          <p:cNvSpPr/>
          <p:nvPr/>
        </p:nvSpPr>
        <p:spPr>
          <a:xfrm>
            <a:off x="17327881" y="1872615"/>
            <a:ext cx="9525" cy="3673793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24" name="Text 22"/>
          <p:cNvSpPr/>
          <p:nvPr/>
        </p:nvSpPr>
        <p:spPr>
          <a:xfrm>
            <a:off x="12433300" y="2185035"/>
            <a:ext cx="472747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FAISS over approximate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433300" y="2573655"/>
            <a:ext cx="472747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7,593 products, exact is effectively instant and recall = 1. We adopt approximate when the catalogue forces it, not before.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19200" y="5736907"/>
            <a:ext cx="5245100" cy="3673793"/>
          </a:xfrm>
          <a:prstGeom prst="roundRect">
            <a:avLst>
              <a:gd name="adj" fmla="val 3630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219200" y="9403080"/>
            <a:ext cx="52451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28" name="Shape 26"/>
          <p:cNvSpPr/>
          <p:nvPr/>
        </p:nvSpPr>
        <p:spPr>
          <a:xfrm>
            <a:off x="1219200" y="5736907"/>
            <a:ext cx="52451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29" name="Shape 27"/>
          <p:cNvSpPr/>
          <p:nvPr/>
        </p:nvSpPr>
        <p:spPr>
          <a:xfrm>
            <a:off x="1219200" y="5736907"/>
            <a:ext cx="38100" cy="3673793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0" name="Shape 28"/>
          <p:cNvSpPr/>
          <p:nvPr/>
        </p:nvSpPr>
        <p:spPr>
          <a:xfrm>
            <a:off x="6456680" y="5736907"/>
            <a:ext cx="9525" cy="3673793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31" name="Text 29"/>
          <p:cNvSpPr/>
          <p:nvPr/>
        </p:nvSpPr>
        <p:spPr>
          <a:xfrm>
            <a:off x="1562100" y="6049327"/>
            <a:ext cx="472747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v1→v2→v3→v4 over big bang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62100" y="6437948"/>
            <a:ext cx="472747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version answers an observed failure (negation, synonyms, hybrid fusion). Clear responsibilities and easy regression testing.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654800" y="5736907"/>
            <a:ext cx="5245100" cy="3673793"/>
          </a:xfrm>
          <a:prstGeom prst="roundRect">
            <a:avLst>
              <a:gd name="adj" fmla="val 3630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654800" y="9403080"/>
            <a:ext cx="52451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35" name="Shape 33"/>
          <p:cNvSpPr/>
          <p:nvPr/>
        </p:nvSpPr>
        <p:spPr>
          <a:xfrm>
            <a:off x="6654800" y="5736907"/>
            <a:ext cx="52451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36" name="Shape 34"/>
          <p:cNvSpPr/>
          <p:nvPr/>
        </p:nvSpPr>
        <p:spPr>
          <a:xfrm>
            <a:off x="6654800" y="5736907"/>
            <a:ext cx="38100" cy="3673793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7" name="Shape 35"/>
          <p:cNvSpPr/>
          <p:nvPr/>
        </p:nvSpPr>
        <p:spPr>
          <a:xfrm>
            <a:off x="11892280" y="5736907"/>
            <a:ext cx="9525" cy="3673793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38" name="Text 36"/>
          <p:cNvSpPr/>
          <p:nvPr/>
        </p:nvSpPr>
        <p:spPr>
          <a:xfrm>
            <a:off x="6997700" y="6049327"/>
            <a:ext cx="472747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sampling + 10-review threshold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997700" y="6437948"/>
            <a:ext cx="472747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the 5-star bias from 62% to 46% and excludes products whose review signal is too thin to generate a reliable embedding.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2090400" y="5736907"/>
            <a:ext cx="5245100" cy="3673793"/>
          </a:xfrm>
          <a:prstGeom prst="roundRect">
            <a:avLst>
              <a:gd name="adj" fmla="val 3630"/>
            </a:avLst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090400" y="9403080"/>
            <a:ext cx="52451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90400" y="5736907"/>
            <a:ext cx="5245100" cy="9525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43" name="Shape 41"/>
          <p:cNvSpPr/>
          <p:nvPr/>
        </p:nvSpPr>
        <p:spPr>
          <a:xfrm>
            <a:off x="12090400" y="5736907"/>
            <a:ext cx="38100" cy="3673793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4" name="Shape 42"/>
          <p:cNvSpPr/>
          <p:nvPr/>
        </p:nvSpPr>
        <p:spPr>
          <a:xfrm>
            <a:off x="17327881" y="5736907"/>
            <a:ext cx="9525" cy="3673793"/>
          </a:xfrm>
          <a:prstGeom prst="rect">
            <a:avLst/>
          </a:prstGeom>
          <a:solidFill>
            <a:srgbClr val="E5E8E2"/>
          </a:solidFill>
          <a:ln/>
        </p:spPr>
      </p:sp>
      <p:sp>
        <p:nvSpPr>
          <p:cNvPr id="45" name="Text 43"/>
          <p:cNvSpPr/>
          <p:nvPr/>
        </p:nvSpPr>
        <p:spPr>
          <a:xfrm>
            <a:off x="12433300" y="6049327"/>
            <a:ext cx="472747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Extractive fallback for BART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433300" y="6437948"/>
            <a:ext cx="472747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few reviews, abstractive summarization hallucinates. Extractive is less elegant but honest about the evidence.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8" name="Text 46"/>
          <p:cNvSpPr/>
          <p:nvPr/>
        </p:nvSpPr>
        <p:spPr>
          <a:xfrm>
            <a:off x="609600" y="9852660"/>
            <a:ext cx="68714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DiscoverAI </a:t>
            </a:r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Mean-Squared-Terrors · Deloitte × LUISS 2026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6914813" y="9871710"/>
            <a:ext cx="83978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6BC25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52500" y="4572000"/>
            <a:ext cx="6667500" cy="6667500"/>
          </a:xfrm>
          <a:prstGeom prst="rect">
            <a:avLst/>
          </a:prstGeom>
          <a:solidFill>
            <a:srgbClr val="86BC25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753038" y="3082290"/>
            <a:ext cx="878176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8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MEAN-SQUARED-TERRORS · DISCOVERAI · DELOITTE × LUISS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21516" y="3608070"/>
            <a:ext cx="4044809" cy="278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0" b="1" spc="-4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8233251" y="6656070"/>
            <a:ext cx="1821498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8230850" y="0"/>
            <a:ext cx="57150" cy="10287000"/>
          </a:xfrm>
          <a:prstGeom prst="rect">
            <a:avLst/>
          </a:prstGeom>
          <a:solidFill>
            <a:srgbClr val="86BC2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2026-05-04T16:51:45Z</dcterms:created>
  <dcterms:modified xsi:type="dcterms:W3CDTF">2026-05-04T16:51:45Z</dcterms:modified>
</cp:coreProperties>
</file>